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523a9b0b464f38" /><Relationship Type="http://schemas.openxmlformats.org/officeDocument/2006/relationships/extended-properties" Target="/docProps/app.xml" Id="Rcaeeddc6218d446f" /><Relationship Type="http://schemas.openxmlformats.org/officeDocument/2006/relationships/officeDocument" Target="/ppt/presentation.xml" Id="R3d566144343d40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4a1589669b4309"/>
  </p:sldMasterIdLst>
  <p:notesMasterIdLst>
    <p:notesMasterId xmlns:r="http://schemas.openxmlformats.org/officeDocument/2006/relationships" r:id="Recf9640058074a91"/>
  </p:notesMasterIdLst>
  <p:sldIdLst>
    <p:sldId xmlns:r="http://schemas.openxmlformats.org/officeDocument/2006/relationships" id="256" r:id="Ra878d018149747bd"/>
    <p:sldId xmlns:r="http://schemas.openxmlformats.org/officeDocument/2006/relationships" id="257" r:id="R4f6439db81e14cc6"/>
    <p:sldId xmlns:r="http://schemas.openxmlformats.org/officeDocument/2006/relationships" id="258" r:id="Rd79d7c1af6124003"/>
    <p:sldId xmlns:r="http://schemas.openxmlformats.org/officeDocument/2006/relationships" id="259" r:id="R692cead3d4ad4c77"/>
    <p:sldId xmlns:r="http://schemas.openxmlformats.org/officeDocument/2006/relationships" id="260" r:id="R5750b6b016444e59"/>
    <p:sldId xmlns:r="http://schemas.openxmlformats.org/officeDocument/2006/relationships" id="261" r:id="R077d6ceb02404fd6"/>
    <p:sldId xmlns:r="http://schemas.openxmlformats.org/officeDocument/2006/relationships" id="262" r:id="Rf2d7d57e0c2f47e3"/>
    <p:sldId xmlns:r="http://schemas.openxmlformats.org/officeDocument/2006/relationships" id="263" r:id="Ref1eb7c4c5174cd7"/>
    <p:sldId xmlns:r="http://schemas.openxmlformats.org/officeDocument/2006/relationships" id="264" r:id="R3e082408d1ba496e"/>
    <p:sldId xmlns:r="http://schemas.openxmlformats.org/officeDocument/2006/relationships" id="265" r:id="R802b128cec5e40a6"/>
    <p:sldId xmlns:r="http://schemas.openxmlformats.org/officeDocument/2006/relationships" id="266" r:id="R8193bcea63c9409e"/>
    <p:sldId xmlns:r="http://schemas.openxmlformats.org/officeDocument/2006/relationships" id="267" r:id="R31c4bf72dcbb4c16"/>
    <p:sldId xmlns:r="http://schemas.openxmlformats.org/officeDocument/2006/relationships" id="268" r:id="R26fefa7f8c0b4adf"/>
    <p:sldId xmlns:r="http://schemas.openxmlformats.org/officeDocument/2006/relationships" id="269" r:id="R111d8ca6d2a04404"/>
    <p:sldId xmlns:r="http://schemas.openxmlformats.org/officeDocument/2006/relationships" id="270" r:id="R0b161e87ae994033"/>
    <p:sldId xmlns:r="http://schemas.openxmlformats.org/officeDocument/2006/relationships" id="271" r:id="R72ca3007411347e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 b="def" i="def"/>
      <a:tcStyle>
        <a:tcBdr/>
        <a:fill>
          <a:solidFill>
            <a:srgbClr val="E7E9EC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 b="def" i="def"/>
      <a:tcStyle>
        <a:tcBdr/>
        <a:fill>
          <a:solidFill>
            <a:srgbClr val="E7EA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 b="def" i="def"/>
      <a:tcStyle>
        <a:tcBdr/>
        <a:fill>
          <a:solidFill>
            <a:srgbClr val="E8F0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fde7491cc0444d" /><Relationship Type="http://schemas.openxmlformats.org/officeDocument/2006/relationships/slideMaster" Target="/ppt/slideMasters/slideMaster1.xml" Id="Rb74a1589669b4309" /><Relationship Type="http://schemas.openxmlformats.org/officeDocument/2006/relationships/notesMaster" Target="/ppt/notesMasters/notesMaster1.xml" Id="Recf9640058074a91" /><Relationship Type="http://schemas.openxmlformats.org/officeDocument/2006/relationships/presProps" Target="/ppt/presProps.xml" Id="Re36db63167a5467d" /><Relationship Type="http://schemas.openxmlformats.org/officeDocument/2006/relationships/tableStyles" Target="/ppt/tableStyles.xml" Id="Rd8ede44a240f4edf" /><Relationship Type="http://schemas.openxmlformats.org/officeDocument/2006/relationships/slide" Target="/ppt/slides/slide1.xml" Id="Ra878d018149747bd" /><Relationship Type="http://schemas.openxmlformats.org/officeDocument/2006/relationships/slide" Target="/ppt/slides/slide2.xml" Id="R4f6439db81e14cc6" /><Relationship Type="http://schemas.openxmlformats.org/officeDocument/2006/relationships/slide" Target="/ppt/slides/slide3.xml" Id="Rd79d7c1af6124003" /><Relationship Type="http://schemas.openxmlformats.org/officeDocument/2006/relationships/slide" Target="/ppt/slides/slide4.xml" Id="R692cead3d4ad4c77" /><Relationship Type="http://schemas.openxmlformats.org/officeDocument/2006/relationships/slide" Target="/ppt/slides/slide5.xml" Id="R5750b6b016444e59" /><Relationship Type="http://schemas.openxmlformats.org/officeDocument/2006/relationships/slide" Target="/ppt/slides/slide6.xml" Id="R077d6ceb02404fd6" /><Relationship Type="http://schemas.openxmlformats.org/officeDocument/2006/relationships/slide" Target="/ppt/slides/slide7.xml" Id="Rf2d7d57e0c2f47e3" /><Relationship Type="http://schemas.openxmlformats.org/officeDocument/2006/relationships/slide" Target="/ppt/slides/slide8.xml" Id="Ref1eb7c4c5174cd7" /><Relationship Type="http://schemas.openxmlformats.org/officeDocument/2006/relationships/slide" Target="/ppt/slides/slide9.xml" Id="R3e082408d1ba496e" /><Relationship Type="http://schemas.openxmlformats.org/officeDocument/2006/relationships/slide" Target="/ppt/slides/slide10.xml" Id="R802b128cec5e40a6" /><Relationship Type="http://schemas.openxmlformats.org/officeDocument/2006/relationships/slide" Target="/ppt/slides/slide11.xml" Id="R8193bcea63c9409e" /><Relationship Type="http://schemas.openxmlformats.org/officeDocument/2006/relationships/slide" Target="/ppt/slides/slide12.xml" Id="R31c4bf72dcbb4c16" /><Relationship Type="http://schemas.openxmlformats.org/officeDocument/2006/relationships/slide" Target="/ppt/slides/slide13.xml" Id="R26fefa7f8c0b4adf" /><Relationship Type="http://schemas.openxmlformats.org/officeDocument/2006/relationships/slide" Target="/ppt/slides/slide14.xml" Id="R111d8ca6d2a04404" /><Relationship Type="http://schemas.openxmlformats.org/officeDocument/2006/relationships/slide" Target="/ppt/slides/slide15.xml" Id="R0b161e87ae994033" /><Relationship Type="http://schemas.openxmlformats.org/officeDocument/2006/relationships/slide" Target="/ppt/slides/slide16.xml" Id="R72ca3007411347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a76b5f2199341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eab4f49f9e4ade" /><Relationship Type="http://schemas.openxmlformats.org/officeDocument/2006/relationships/notesMaster" Target="/ppt/notesMasters/notesMaster1.xml" Id="Rfb7ea22bd19c430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3c798fbda24e07" /><Relationship Type="http://schemas.openxmlformats.org/officeDocument/2006/relationships/notesMaster" Target="/ppt/notesMasters/notesMaster1.xml" Id="Rb72f52f451e445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743829650cc4f9b" /><Relationship Type="http://schemas.openxmlformats.org/officeDocument/2006/relationships/notesMaster" Target="/ppt/notesMasters/notesMaster1.xml" Id="R76af997ae6f84f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f5198e54a454808" /><Relationship Type="http://schemas.openxmlformats.org/officeDocument/2006/relationships/notesMaster" Target="/ppt/notesMasters/notesMaster1.xml" Id="Rb506c476304846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12b412c7ee444f2" /><Relationship Type="http://schemas.openxmlformats.org/officeDocument/2006/relationships/notesMaster" Target="/ppt/notesMasters/notesMaster1.xml" Id="R526754f8f4084d0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4826b44cd5f4c49" /><Relationship Type="http://schemas.openxmlformats.org/officeDocument/2006/relationships/notesMaster" Target="/ppt/notesMasters/notesMaster1.xml" Id="Ra6830d0773834c0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86f25c325a5420e" /><Relationship Type="http://schemas.openxmlformats.org/officeDocument/2006/relationships/notesMaster" Target="/ppt/notesMasters/notesMaster1.xml" Id="R2e461c605c014a1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326bf9b455941b1" /><Relationship Type="http://schemas.openxmlformats.org/officeDocument/2006/relationships/notesMaster" Target="/ppt/notesMasters/notesMaster1.xml" Id="Rdb0123950a4c414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ddc760abb1443df" /><Relationship Type="http://schemas.openxmlformats.org/officeDocument/2006/relationships/notesMaster" Target="/ppt/notesMasters/notesMaster1.xml" Id="Rf1497ea153a74f2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25efe698e614f84" /><Relationship Type="http://schemas.openxmlformats.org/officeDocument/2006/relationships/notesMaster" Target="/ppt/notesMasters/notesMaster1.xml" Id="R2dffee84674840b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5ff0dda28fc4a31" /><Relationship Type="http://schemas.openxmlformats.org/officeDocument/2006/relationships/notesMaster" Target="/ppt/notesMasters/notesMaster1.xml" Id="R37be108afa36487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4f4b3ca67c14463" /><Relationship Type="http://schemas.openxmlformats.org/officeDocument/2006/relationships/notesMaster" Target="/ppt/notesMasters/notesMaster1.xml" Id="R718d96b79a99437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cd4fc884d49429f" /><Relationship Type="http://schemas.openxmlformats.org/officeDocument/2006/relationships/notesMaster" Target="/ppt/notesMasters/notesMaster1.xml" Id="Rc08069bba7194b3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6de2e32f60f4938" /><Relationship Type="http://schemas.openxmlformats.org/officeDocument/2006/relationships/notesMaster" Target="/ppt/notesMasters/notesMaster1.xml" Id="R8416073f0041412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d257f31ea324ece" /><Relationship Type="http://schemas.openxmlformats.org/officeDocument/2006/relationships/notesMaster" Target="/ppt/notesMasters/notesMaster1.xml" Id="R6a9b53650b764eb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9d162c422bd4002" /><Relationship Type="http://schemas.openxmlformats.org/officeDocument/2006/relationships/notesMaster" Target="/ppt/notesMasters/notesMaster1.xml" Id="R40b6310a6dc143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AMOS is not another AI assistant. It is the durable governed operating layer that lets changing AI models safely operate a real company.</a:t>
            </a:r>
          </a:p>
          <a:p xmlns:a="http://schemas.openxmlformats.org/drawingml/2006/main">
            <a:pPr>
              <a:buNone/>
            </a:pPr>
            <a:r>
              <a:t>Open with the category: the models change; the company context, permissions, actions and learning history stay in AMOS.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Lead with the practical blocker: intelligence is abundant, but context, authority and accountability are missing.</a:t>
            </a:r>
          </a:p>
          <a:p xmlns:a="http://schemas.openxmlformats.org/drawingml/2006/main">
            <a:pPr>
              <a:buNone/>
            </a:pPr>
            <a:r>
              <a:t>The opportunity is not a better chat window. It is the operating environment around the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This is the category-defining line: change the intelligence without reconnecting the company.</a:t>
            </a:r>
          </a:p>
          <a:p xmlns:a="http://schemas.openxmlformats.org/drawingml/2006/main">
            <a:pPr>
              <a:buNone/>
            </a:pPr>
            <a:r>
              <a:t>Model choice becomes a feature; durable governed company context becomes the platform.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In a live pitch, play the video here. It runs 1 minute 11 seconds.</a:t>
            </a:r>
          </a:p>
          <a:p xmlns:a="http://schemas.openxmlformats.org/drawingml/2006/main">
            <a:pPr>
              <a:buNone/>
            </a:pPr>
            <a:r>
              <a:t>If the deck is forwarded, the thumbnail button and QR code open the exact YouTube URL.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AMOS separates intelligence from the business environment.</a:t>
            </a:r>
          </a:p>
          <a:p xmlns:a="http://schemas.openxmlformats.org/drawingml/2006/main">
            <a:pPr>
              <a:buNone/>
            </a:pPr>
            <a:r>
              <a:t>This architecture enables model choice, tenant-scoped access, sovereign deployment and durable organizational memory.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Most AI products lose the evidence trail at the end of the chat. AMOS keeps it attached to the company.</a:t>
            </a:r>
          </a:p>
          <a:p xmlns:a="http://schemas.openxmlformats.org/drawingml/2006/main">
            <a:pPr>
              <a:buNone/>
            </a:pPr>
            <a:r>
              <a:t>The compounding asset is the governed record of what was attempted, allowed, approved, executed and learned.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The local-intelligence program turns AMOS’s receipt graph into a compounding runtime advantage: routine work can move onto owned hardware while hard cases remain governed and receipted.</a:t>
            </a:r>
          </a:p>
          <a:p xmlns:a="http://schemas.openxmlformats.org/drawingml/2006/main">
            <a:pPr>
              <a:buNone/>
            </a:pPr>
            <a:r>
              <a:t>The 80–90% figure is a measured target by workflow, not a claim of frontier parity.</a:t>
            </a:r>
          </a:p>
          <a:p xmlns:a="http://schemas.openxmlformats.org/drawingml/2006/main">
            <a:pPr>
              <a:buNone/>
            </a:pPr>
            <a:r>
              <a:t/>
            </a:r>
          </a:p>
          <a:p xmlns:a="http://schemas.openxmlformats.org/drawingml/2006/main">
            <a:pPr>
              <a:buNone/>
            </a:pPr>
            <a:r>
              <a:t>[Sources]</a:t>
            </a:r>
          </a:p>
          <a:p xmlns:a="http://schemas.openxmlformats.org/drawingml/2006/main">
            <a:pPr>
              <a:buNone/>
            </a:pPr>
            <a:r>
              <a:t>- https://github.com/amos-labs/amos-agent/blob/main/docs/LOCAL_120B_LIVE_BASELINE.md</a:t>
            </a:r>
          </a:p>
          <a:p xmlns:a="http://schemas.openxmlformats.org/drawingml/2006/main">
            <a:pPr>
              <a:buNone/>
            </a:pPr>
            <a:r>
              <a:t>- https://github.com/amos-labs/amos-agent/blob/main/docs/EXPERT_CACHE_ZERO_COPY_RESULTS.md</a:t>
            </a:r>
          </a:p>
          <a:p xmlns:a="http://schemas.openxmlformats.org/drawingml/2006/main">
            <a:pPr>
              <a:buNone/>
            </a:pPr>
            <a:r>
              <a:t>- https://github.com/amos-labs/amos-agent/pull/43</a:t>
            </a:r>
          </a:p>
          <a:p xmlns:a="http://schemas.openxmlformats.org/drawingml/2006/main">
            <a:pPr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This is the step beyond repeated prompts: self-directed work toward a measurable goal.</a:t>
            </a:r>
          </a:p>
          <a:p xmlns:a="http://schemas.openxmlformats.org/drawingml/2006/main">
            <a:pPr>
              <a:buNone/>
            </a:pPr>
            <a:r>
              <a:t>Consequential work never self-approves. The loop parks for a human; reversible actions can run inside explicit budgets and policy.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The customer can start with a single painful workflow and expand without rebuilding context or governance.</a:t>
            </a:r>
          </a:p>
          <a:p xmlns:a="http://schemas.openxmlformats.org/drawingml/2006/main">
            <a:pPr>
              <a:buNone/>
            </a:pPr>
            <a:r>
              <a:t>AMOS also supports a builder path: create a vertical app once and resell it to a network of downstream businesses.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The customer can start with a single painful workflow and expand without rebuilding context or governance.</a:t>
            </a:r>
          </a:p>
          <a:p xmlns:a="http://schemas.openxmlformats.org/drawingml/2006/main">
            <a:pPr>
              <a:buNone/>
            </a:pPr>
            <a:r>
              <a:t>AMOS also supports a builder path: create a vertical app once and resell it to a network of downstream businesses.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Do not overstate traction. The strongest claim is that the product is real, live and already operating real businesses.</a:t>
            </a:r>
          </a:p>
          <a:p xmlns:a="http://schemas.openxmlformats.org/drawingml/2006/main">
            <a:pPr>
              <a:buNone/>
            </a:pPr>
            <a:r>
              <a:t>Replace this slide with quantified ARR, paid accounts, activation and pipeline as the launch data matures.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The economic model aligns with customer value: start with the control plane, then expand into workflows, software and infrastructure.</a:t>
            </a:r>
          </a:p>
          <a:p xmlns:a="http://schemas.openxmlformats.org/drawingml/2006/main">
            <a:pPr>
              <a:buNone/>
            </a:pPr>
            <a:r>
              <a:t>Customers can bring their own model keys or use managed infrastructure. Cloud resources are metered and billed back.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The economic model aligns with customer value: start with the control plane, then expand into workflows, software and infrastructure.</a:t>
            </a:r>
          </a:p>
          <a:p xmlns:a="http://schemas.openxmlformats.org/drawingml/2006/main">
            <a:pPr>
              <a:buNone/>
            </a:pPr>
            <a:r>
              <a:t>Customers can bring their own model keys or use managed infrastructure. Cloud resources are metered and billed back.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The competitors are not wrong; they solve narrower layers.</a:t>
            </a:r>
          </a:p>
          <a:p xmlns:a="http://schemas.openxmlformats.org/drawingml/2006/main">
            <a:pPr>
              <a:buNone/>
            </a:pPr>
            <a:r>
              <a:t>AMOS is differentiated by combining durable context, governed action, portability and the receipt-driven learning loop in one operating surface.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The story is not labor arbitrage. Portugal provides exceptional engineering talent, capital-efficient building and a credible European/sovereign path.</a:t>
            </a:r>
          </a:p>
          <a:p xmlns:a="http://schemas.openxmlformats.org/drawingml/2006/main">
            <a:pPr>
              <a:buNone/>
            </a:pPr>
            <a:r>
              <a:t>The funnel is measurable end-to-end: campaign message, landing page, playground, signup and onboarding campaign.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Close by asking for a next meeting, not generic feedback.</a:t>
            </a:r>
          </a:p>
          <a:p xmlns:a="http://schemas.openxmlformats.org/drawingml/2006/main">
            <a:pPr>
              <a:buNone/>
            </a:pPr>
            <a:r>
              <a:t>Active Capital interest is non-binding and contingent on securing a lead. Do not describe it as committed capital.</a:t>
            </a:r>
          </a:p>
          <a:p xmlns:a="http://schemas.openxmlformats.org/drawingml/2006/main">
            <a:pPr>
              <a:buNone/>
            </a:pPr>
            <a:r>
              <a:t>Add the exact round size and milestone plan once finalized.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8aa748f7894db2" /></Relationships>
</file>

<file path=ppt/slideLayouts/slideLayout1.xml><?xml version="1.0" encoding="utf-8"?>
<p:sldLayout xmlns:p="http://schemas.openxmlformats.org/presentationml/2006/main" showMasterSp="1" showMasterPhAnim="1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1B6892D2-7F08-4D31-BDF3-E34216FAEA01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f4494f3c654606" /><Relationship Type="http://schemas.openxmlformats.org/officeDocument/2006/relationships/slideLayout" Target="/ppt/slideLayouts/slideLayout1.xml" Id="R1f9c86673f5e417d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Text">
            <a:extLst xmlns:a="http://schemas.openxmlformats.org/drawingml/2006/main">
              <a:ext uri="{FF2B5EF4-FFF2-40B4-BE49-F238E27FC236}">
                <a16:creationId xmlns:a16="http://schemas.microsoft.com/office/drawing/2014/main" id="{FD9455CC-290D-4468-BA34-925999776F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1844675"/>
            <a:ext cx="10363200" cy="204152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 anchor="ctr"/>
          <a:lstStyle xmlns:a="http://schemas.openxmlformats.org/drawingml/2006/main"/>
          <a:p xmlns:a="http://schemas.openxmlformats.org/drawingml/2006/main">
            <a:pPr>
              <a:buNone/>
            </a:pPr>
            <a:r>
              <a:t>Title Text</a:t>
            </a:r>
          </a:p>
        </p:txBody>
      </p:sp>
      <p:sp>
        <p:nvSpPr>
          <p:cNvPr id="3" name="Body Level One…">
            <a:extLst xmlns:a="http://schemas.openxmlformats.org/drawingml/2006/main">
              <a:ext uri="{FF2B5EF4-FFF2-40B4-BE49-F238E27FC236}">
                <a16:creationId xmlns:a16="http://schemas.microsoft.com/office/drawing/2014/main" id="{1B77E7A0-76F6-4AC0-BD44-EE0727C308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828800" y="3886200"/>
            <a:ext cx="8534400" cy="2971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  <a:r>
              <a:t>Body Level One</a:t>
            </a:r>
          </a:p>
          <a:p xmlns:a="http://schemas.openxmlformats.org/drawingml/2006/main">
            <a:pPr lvl="1">
              <a:buNone/>
            </a:pPr>
            <a:r>
              <a:t>Body Level Two</a:t>
            </a:r>
          </a:p>
          <a:p xmlns:a="http://schemas.openxmlformats.org/drawingml/2006/main">
            <a:pPr lvl="2">
              <a:buNone/>
            </a:pPr>
            <a:r>
              <a:t>Body Level Three</a:t>
            </a:r>
          </a:p>
          <a:p xmlns:a="http://schemas.openxmlformats.org/drawingml/2006/main">
            <a:pPr lvl="3">
              <a:buNone/>
            </a:pPr>
            <a:r>
              <a:t>Body Level Four</a:t>
            </a:r>
          </a:p>
          <a:p xmlns:a="http://schemas.openxmlformats.org/drawingml/2006/main">
            <a:pPr lvl="4">
              <a:buNone/>
            </a:pPr>
            <a:r>
              <a:t>Body Level Five</a:t>
            </a:r>
          </a:p>
        </p:txBody>
      </p:sp>
      <p:sp>
        <p:nvSpPr>
          <p:cNvPr id="4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BC32C7A4-7526-406F-A58E-CE16B1A7DC04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xfrm xmlns:a="http://schemas.openxmlformats.org/drawingml/2006/main">
            <a:off x="8463948" y="6221732"/>
            <a:ext cx="273652" cy="2692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45718" tIns="45718" rIns="45718" bIns="45718" anchor="ctr">
            <a:spAutoFit/>
          </a:bodyPr>
          <a:lstStyle xmlns:a="http://schemas.openxmlformats.org/drawingml/2006/main">
            <a:lvl1pPr algn="r">
              <a:buNone/>
              <a:defRPr sz="1200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9c86673f5e417d"/>
  </p:sldLayoutIdLst>
  <p:txStyles>
    <p:titleStyle>
      <a:lvl1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1pPr>
      <a:lvl2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28600" marR="0" indent="-228600" algn="l" defTabSz="914400">
        <a:lnSpc>
          <a:spcPct val="90000"/>
        </a:lnSpc>
        <a:spcBef>
          <a:spcPts val="1000"/>
        </a:spcBef>
        <a:spcAft>
          <a:spcPts val="0"/>
        </a:spcAft>
        <a:buClrTx/>
        <a:buSzTx/>
        <a:buFontTx/>
        <a:buNone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1pPr>
      <a:lvl2pPr xmlns:a="http://schemas.openxmlformats.org/drawingml/2006/main" marL="228600" marR="0" indent="0" algn="l" defTabSz="914400">
        <a:lnSpc>
          <a:spcPct val="90000"/>
        </a:lnSpc>
        <a:spcBef>
          <a:spcPts val="1000"/>
        </a:spcBef>
        <a:spcAft>
          <a:spcPts val="0"/>
        </a:spcAft>
        <a:buClrTx/>
        <a:buSzTx/>
        <a:buFontTx/>
        <a:buNone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2pPr>
      <a:lvl3pPr xmlns:a="http://schemas.openxmlformats.org/drawingml/2006/main" marL="228600" marR="0" indent="0" algn="l" defTabSz="914400">
        <a:lnSpc>
          <a:spcPct val="90000"/>
        </a:lnSpc>
        <a:spcBef>
          <a:spcPts val="1000"/>
        </a:spcBef>
        <a:spcAft>
          <a:spcPts val="0"/>
        </a:spcAft>
        <a:buClrTx/>
        <a:buSzTx/>
        <a:buFontTx/>
        <a:buNone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3pPr>
      <a:lvl4pPr xmlns:a="http://schemas.openxmlformats.org/drawingml/2006/main" marL="228600" marR="0" indent="0" algn="l" defTabSz="914400">
        <a:lnSpc>
          <a:spcPct val="90000"/>
        </a:lnSpc>
        <a:spcBef>
          <a:spcPts val="1000"/>
        </a:spcBef>
        <a:spcAft>
          <a:spcPts val="0"/>
        </a:spcAft>
        <a:buClrTx/>
        <a:buSzTx/>
        <a:buFontTx/>
        <a:buNone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4pPr>
      <a:lvl5pPr xmlns:a="http://schemas.openxmlformats.org/drawingml/2006/main" marL="228600" marR="0" indent="0" algn="l" defTabSz="914400">
        <a:lnSpc>
          <a:spcPct val="90000"/>
        </a:lnSpc>
        <a:spcBef>
          <a:spcPts val="1000"/>
        </a:spcBef>
        <a:spcAft>
          <a:spcPts val="0"/>
        </a:spcAft>
        <a:buClrTx/>
        <a:buSzTx/>
        <a:buFontTx/>
        <a:buNone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5pPr>
      <a:lvl6pPr xmlns:a="http://schemas.openxmlformats.org/drawingml/2006/main" marL="2641600" marR="0" indent="-355600" algn="l" defTabSz="91440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6pPr>
      <a:lvl7pPr xmlns:a="http://schemas.openxmlformats.org/drawingml/2006/main" marL="3098800" marR="0" indent="-355600" algn="l" defTabSz="91440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7pPr>
      <a:lvl8pPr xmlns:a="http://schemas.openxmlformats.org/drawingml/2006/main" marL="3556000" marR="0" indent="-355600" algn="l" defTabSz="91440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8pPr>
      <a:lvl9pPr xmlns:a="http://schemas.openxmlformats.org/drawingml/2006/main" marL="4013200" marR="0" indent="-355600" algn="l" defTabSz="91440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9pPr>
    </p:bodyStyle>
    <p:otherStyle>
      <a:lvl1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6676e511f049c9" /><Relationship Type="http://schemas.openxmlformats.org/officeDocument/2006/relationships/image" Target="/ppt/media/image.png" Id="Raddcdd75fd8f4a02" /><Relationship Type="http://schemas.openxmlformats.org/officeDocument/2006/relationships/notesSlide" Target="/ppt/notesSlides/notesSlide1.xml" Id="R84f9ccb5c8bb4c6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1b1286a2e64733" /><Relationship Type="http://schemas.openxmlformats.org/officeDocument/2006/relationships/notesSlide" Target="/ppt/notesSlides/notesSlide2.xml" Id="R26b06d3a68a646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90342ed5534ba9" /><Relationship Type="http://schemas.openxmlformats.org/officeDocument/2006/relationships/notesSlide" Target="/ppt/notesSlides/notesSlide3.xml" Id="Rc2b07a94a07343b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5eed19c0564cd0" /><Relationship Type="http://schemas.openxmlformats.org/officeDocument/2006/relationships/image" Target="/ppt/media/image.jpeg" Id="Rc2c48b5dfb304f8c" /><Relationship Type="http://schemas.openxmlformats.org/officeDocument/2006/relationships/image" Target="/ppt/media/image2.jpeg" Id="Reec043432aeb4f68" /><Relationship Type="http://schemas.openxmlformats.org/officeDocument/2006/relationships/hyperlink" Target="https://www.youtube.com/watch?v=KfWwN2SHEf0" TargetMode="External" Id="Rfe6b1a302b5548d0" /><Relationship Type="http://schemas.openxmlformats.org/officeDocument/2006/relationships/notesSlide" Target="/ppt/notesSlides/notesSlide4.xml" Id="Rc921452fd35b4e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bdce5325294ca9" /><Relationship Type="http://schemas.openxmlformats.org/officeDocument/2006/relationships/notesSlide" Target="/ppt/notesSlides/notesSlide5.xml" Id="R6edb20ab07bc449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62b8fd63b540c5" /><Relationship Type="http://schemas.openxmlformats.org/officeDocument/2006/relationships/notesSlide" Target="/ppt/notesSlides/notesSlide6.xml" Id="R1a068bacc2854b2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c3d2443b9f4152" /><Relationship Type="http://schemas.openxmlformats.org/officeDocument/2006/relationships/notesSlide" Target="/ppt/notesSlides/notesSlide7.xml" Id="R115a8c66716640b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b4adca3f124693" /><Relationship Type="http://schemas.openxmlformats.org/officeDocument/2006/relationships/notesSlide" Target="/ppt/notesSlides/notesSlide8.xml" Id="R708366b8b20f48e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e4c987f84a41a3" /><Relationship Type="http://schemas.openxmlformats.org/officeDocument/2006/relationships/notesSlide" Target="/ppt/notesSlides/notesSlide9.xml" Id="Re00ab71d075f4da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23efe4d7624e9c" /><Relationship Type="http://schemas.openxmlformats.org/officeDocument/2006/relationships/notesSlide" Target="/ppt/notesSlides/notesSlide10.xml" Id="R2aa8d34b33774dc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85bf06527c476f" /><Relationship Type="http://schemas.openxmlformats.org/officeDocument/2006/relationships/notesSlide" Target="/ppt/notesSlides/notesSlide11.xml" Id="R6ebc3b0382bf425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f9d263444b423c" /><Relationship Type="http://schemas.openxmlformats.org/officeDocument/2006/relationships/notesSlide" Target="/ppt/notesSlides/notesSlide12.xml" Id="R07e499927804424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e9a4d240934556" /><Relationship Type="http://schemas.openxmlformats.org/officeDocument/2006/relationships/notesSlide" Target="/ppt/notesSlides/notesSlide13.xml" Id="R951a4146ae5e40e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580edbc1ec4f9a" /><Relationship Type="http://schemas.openxmlformats.org/officeDocument/2006/relationships/notesSlide" Target="/ppt/notesSlides/notesSlide14.xml" Id="R7db1e389832b445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a731b90e094bc5" /><Relationship Type="http://schemas.openxmlformats.org/officeDocument/2006/relationships/notesSlide" Target="/ppt/notesSlides/notesSlide15.xml" Id="R15ee3abf7111468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dae46567d44d06" /><Relationship Type="http://schemas.openxmlformats.org/officeDocument/2006/relationships/image" Target="/ppt/media/image.png" Id="Rd37867818ed34e7d" /><Relationship Type="http://schemas.openxmlformats.org/officeDocument/2006/relationships/hyperlink" Target="mailto:rick@amoslabs.com" TargetMode="External" Id="R86a3535ad561404c" /><Relationship Type="http://schemas.openxmlformats.org/officeDocument/2006/relationships/notesSlide" Target="/ppt/notesSlides/notesSlide16.xml" Id="Rd2e5b632bff6434f" /></Relationships>
</file>

<file path=ppt/slides/slide1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0C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angle">
            <a:extLst xmlns:a="http://schemas.openxmlformats.org/drawingml/2006/main">
              <a:ext uri="{FF2B5EF4-FFF2-40B4-BE49-F238E27FC236}">
                <a16:creationId xmlns:a16="http://schemas.microsoft.com/office/drawing/2014/main" id="{10904B5D-4DF0-4BD7-8020-6A635170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DEF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29" name="image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dcdd75fd8f4a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496146"/>
            <a:ext cx="2333625" cy="64601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2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D10F50D2-4B02-4CD2-8C15-244A5F268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967" y="1714500"/>
            <a:ext cx="9906001" cy="2190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/>
          <a:p xmlns:a="http://schemas.openxmlformats.org/drawingml/2006/main">
            <a:pPr>
              <a:buNone/>
              <a:defRPr sz="5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The governed operating layer</a:t>
            </a:r>
          </a:p>
          <a:p xmlns:a="http://schemas.openxmlformats.org/drawingml/2006/main">
            <a:pPr>
              <a:buNone/>
              <a:defRPr sz="5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for the AI-run company.</a:t>
            </a:r>
          </a:p>
        </p:txBody>
      </p:sp>
      <p:sp>
        <p:nvSpPr>
          <p:cNvPr id="2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C8F7E611-C1A0-4768-930C-FD415772D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67200"/>
            <a:ext cx="7620000" cy="4762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2100">
                <a:solidFill>
                  <a:srgbClr val="CAD3E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The business lives in AMOS. The AI is the operator.</a:t>
            </a:r>
          </a:p>
        </p:txBody>
      </p:sp>
      <p:sp>
        <p:nvSpPr>
          <p:cNvPr id="24" name="Line">
            <a:extLst xmlns:a="http://schemas.openxmlformats.org/drawingml/2006/main">
              <a:ext uri="{FF2B5EF4-FFF2-40B4-BE49-F238E27FC236}">
                <a16:creationId xmlns:a16="http://schemas.microsoft.com/office/drawing/2014/main" id="{A855B520-85B9-4D8E-8238-5DF28339E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49" y="5257798"/>
            <a:ext cx="2190752" cy="9529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5B8DEF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" name="Seed investor deck · July 2026">
            <a:extLst xmlns:a="http://schemas.openxmlformats.org/drawingml/2006/main">
              <a:ext uri="{FF2B5EF4-FFF2-40B4-BE49-F238E27FC236}">
                <a16:creationId xmlns:a16="http://schemas.microsoft.com/office/drawing/2014/main" id="{793F12E5-46D8-4E0B-B503-C8B806A36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05450"/>
            <a:ext cx="4286250" cy="2476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200" b="1">
                <a:solidFill>
                  <a:srgbClr val="93A0B8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Investor deck · July 2026</a:t>
            </a:r>
          </a:p>
        </p:txBody>
      </p:sp>
      <p:sp>
        <p:nvSpPr>
          <p:cNvPr id="26" name="amoslabs.com">
            <a:extLst xmlns:a="http://schemas.openxmlformats.org/drawingml/2006/main">
              <a:ext uri="{FF2B5EF4-FFF2-40B4-BE49-F238E27FC236}">
                <a16:creationId xmlns:a16="http://schemas.microsoft.com/office/drawing/2014/main" id="{92A52528-8847-4CD8-966D-C6C232EC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924550"/>
            <a:ext cx="1676400" cy="2286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buNone/>
              <a:defRPr sz="1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amoslabs.com</a:t>
            </a:r>
          </a:p>
        </p:txBody>
      </p:sp>
    </p:spTree>
    <p:extLst>
      <p:ext uri="{BB962C8B-B14F-4D97-AF65-F5344CB8AC3E}">
        <p14:creationId xmlns:p14="http://schemas.microsoft.com/office/powerpoint/2010/main" val="1252771574"/>
      </p:ext>
    </p:extLst>
  </p:cSld>
</p:sld>
</file>

<file path=ppt/slides/slide2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eyebrow">
            <a:extLst xmlns:a="http://schemas.openxmlformats.org/drawingml/2006/main">
              <a:ext uri="{FF2B5EF4-FFF2-40B4-BE49-F238E27FC236}">
                <a16:creationId xmlns:a16="http://schemas.microsoft.com/office/drawing/2014/main" id="{7BEEAEC7-A254-461C-944F-74A147BF3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476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100" b="1">
                <a:solidFill>
                  <a:srgbClr val="7A3FF2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THE PROBLEM</a:t>
            </a:r>
          </a:p>
        </p:txBody>
      </p:sp>
      <p:sp>
        <p:nvSpPr>
          <p:cNvPr id="31" name="AI can reason.…">
            <a:extLst xmlns:a="http://schemas.openxmlformats.org/drawingml/2006/main">
              <a:ext uri="{FF2B5EF4-FFF2-40B4-BE49-F238E27FC236}">
                <a16:creationId xmlns:a16="http://schemas.microsoft.com/office/drawing/2014/main" id="{B1E14CF5-BCE9-4428-A038-ADA57585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6286500" cy="17145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/>
          <a:p xmlns:a="http://schemas.openxmlformats.org/drawingml/2006/main">
            <a:pPr>
              <a:buNone/>
              <a:defRPr sz="37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t>AI can reason.</a:t>
            </a:r>
          </a:p>
          <a:p xmlns:a="http://schemas.openxmlformats.org/drawingml/2006/main">
            <a:pPr>
              <a:buNone/>
              <a:defRPr sz="37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t>Most companies still can't</a:t>
            </a:r>
          </a:p>
          <a:p xmlns:a="http://schemas.openxmlformats.org/drawingml/2006/main">
            <a:pPr>
              <a:buNone/>
              <a:defRPr sz="37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t>let it act.</a:t>
            </a:r>
          </a:p>
        </p:txBody>
      </p:sp>
      <p:sp>
        <p:nvSpPr>
          <p:cNvPr id="32" name="Company truth is scattered across disconnected applications. Every model session starts with partial context, while consequential actions still land on a human desk.">
            <a:extLst xmlns:a="http://schemas.openxmlformats.org/drawingml/2006/main">
              <a:ext uri="{FF2B5EF4-FFF2-40B4-BE49-F238E27FC236}">
                <a16:creationId xmlns:a16="http://schemas.microsoft.com/office/drawing/2014/main" id="{116BC94C-BB33-4064-A514-F2DD31AE3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5905500" cy="128587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>
                <a:solidFill>
                  <a:srgbClr val="5B647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Company truth is scattered across disconnected applications. Every model session starts with partial context, while consequential actions still land on a human desk.</a:t>
            </a:r>
          </a:p>
        </p:txBody>
      </p:sp>
      <p:sp>
        <p:nvSpPr>
          <p:cNvPr id="33" name="Line">
            <a:extLst xmlns:a="http://schemas.openxmlformats.org/drawingml/2006/main">
              <a:ext uri="{FF2B5EF4-FFF2-40B4-BE49-F238E27FC236}">
                <a16:creationId xmlns:a16="http://schemas.microsoft.com/office/drawing/2014/main" id="{6431081F-548D-4771-8254-A94B4903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200146"/>
            <a:ext cx="9525" cy="4095758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9CFDA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4" name="01">
            <a:extLst xmlns:a="http://schemas.openxmlformats.org/drawingml/2006/main">
              <a:ext uri="{FF2B5EF4-FFF2-40B4-BE49-F238E27FC236}">
                <a16:creationId xmlns:a16="http://schemas.microsoft.com/office/drawing/2014/main" id="{A60180F8-4279-447F-B92A-1DB0FE58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219200"/>
            <a:ext cx="523875" cy="3810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600" b="1">
                <a:solidFill>
                  <a:srgbClr val="5B8DE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01</a:t>
            </a:r>
          </a:p>
        </p:txBody>
      </p:sp>
      <p:sp>
        <p:nvSpPr>
          <p:cNvPr id="35" name="Fragmented context">
            <a:extLst xmlns:a="http://schemas.openxmlformats.org/drawingml/2006/main">
              <a:ext uri="{FF2B5EF4-FFF2-40B4-BE49-F238E27FC236}">
                <a16:creationId xmlns:a16="http://schemas.microsoft.com/office/drawing/2014/main" id="{F42FB5E4-03F4-4168-AD0E-98C74DFA0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219200"/>
            <a:ext cx="285750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Fragmented context</a:t>
            </a:r>
          </a:p>
        </p:txBody>
      </p:sp>
      <p:sp>
        <p:nvSpPr>
          <p:cNvPr id="36" name="Data, apps, documents and history live in separate silos.">
            <a:extLst xmlns:a="http://schemas.openxmlformats.org/drawingml/2006/main">
              <a:ext uri="{FF2B5EF4-FFF2-40B4-BE49-F238E27FC236}">
                <a16:creationId xmlns:a16="http://schemas.microsoft.com/office/drawing/2014/main" id="{BA3BF44C-AB69-419A-B4A0-7C2727B98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38300"/>
            <a:ext cx="2857500" cy="5715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300">
                <a:solidFill>
                  <a:srgbClr val="5B647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Data, apps, documents and history live in separate silos.</a:t>
            </a:r>
          </a:p>
        </p:txBody>
      </p:sp>
      <p:sp>
        <p:nvSpPr>
          <p:cNvPr id="37" name="02">
            <a:extLst xmlns:a="http://schemas.openxmlformats.org/drawingml/2006/main">
              <a:ext uri="{FF2B5EF4-FFF2-40B4-BE49-F238E27FC236}">
                <a16:creationId xmlns:a16="http://schemas.microsoft.com/office/drawing/2014/main" id="{FF0AAD6F-A23A-4EB9-8BD3-18434905E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95550"/>
            <a:ext cx="523875" cy="3810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600" b="1">
                <a:solidFill>
                  <a:srgbClr val="F36C4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02</a:t>
            </a:r>
          </a:p>
        </p:txBody>
      </p:sp>
      <p:sp>
        <p:nvSpPr>
          <p:cNvPr id="38" name="No safe action layer">
            <a:extLst xmlns:a="http://schemas.openxmlformats.org/drawingml/2006/main">
              <a:ext uri="{FF2B5EF4-FFF2-40B4-BE49-F238E27FC236}">
                <a16:creationId xmlns:a16="http://schemas.microsoft.com/office/drawing/2014/main" id="{79B05C9D-1DA0-4161-8487-786FD9A0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95550"/>
            <a:ext cx="285750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No safe action layer</a:t>
            </a:r>
          </a:p>
        </p:txBody>
      </p:sp>
      <p:sp>
        <p:nvSpPr>
          <p:cNvPr id="39" name="Chat produces insight; humans still translate it into work.">
            <a:extLst xmlns:a="http://schemas.openxmlformats.org/drawingml/2006/main">
              <a:ext uri="{FF2B5EF4-FFF2-40B4-BE49-F238E27FC236}">
                <a16:creationId xmlns:a16="http://schemas.microsoft.com/office/drawing/2014/main" id="{E9D13262-5B6D-4BFE-BEBA-7BE410069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14650"/>
            <a:ext cx="2857500" cy="5715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300">
                <a:solidFill>
                  <a:srgbClr val="5B647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Chat produces insight; humans still translate it into work.</a:t>
            </a:r>
          </a:p>
        </p:txBody>
      </p:sp>
      <p:sp>
        <p:nvSpPr>
          <p:cNvPr id="40" name="03">
            <a:extLst xmlns:a="http://schemas.openxmlformats.org/drawingml/2006/main">
              <a:ext uri="{FF2B5EF4-FFF2-40B4-BE49-F238E27FC236}">
                <a16:creationId xmlns:a16="http://schemas.microsoft.com/office/drawing/2014/main" id="{7BC2C2F5-8B63-4AFB-AC13-14418E3A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771900"/>
            <a:ext cx="523875" cy="3810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600" b="1">
                <a:solidFill>
                  <a:srgbClr val="26B47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03</a:t>
            </a:r>
          </a:p>
        </p:txBody>
      </p:sp>
      <p:sp>
        <p:nvSpPr>
          <p:cNvPr id="41" name="No durable learning">
            <a:extLst xmlns:a="http://schemas.openxmlformats.org/drawingml/2006/main">
              <a:ext uri="{FF2B5EF4-FFF2-40B4-BE49-F238E27FC236}">
                <a16:creationId xmlns:a16="http://schemas.microsoft.com/office/drawing/2014/main" id="{B934A065-5CF1-41BC-95DE-F96E6AE6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71900"/>
            <a:ext cx="285750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No durable learning</a:t>
            </a:r>
          </a:p>
        </p:txBody>
      </p:sp>
      <p:sp>
        <p:nvSpPr>
          <p:cNvPr id="42" name="Intent, approval and outcome disappear into tickets and chats.">
            <a:extLst xmlns:a="http://schemas.openxmlformats.org/drawingml/2006/main">
              <a:ext uri="{FF2B5EF4-FFF2-40B4-BE49-F238E27FC236}">
                <a16:creationId xmlns:a16="http://schemas.microsoft.com/office/drawing/2014/main" id="{F0B91D17-AD10-4834-B82E-069D0237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191000"/>
            <a:ext cx="2857500" cy="5715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300">
                <a:solidFill>
                  <a:srgbClr val="5B647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Intent, approval and outcome disappear into tickets and chats.</a:t>
            </a:r>
          </a:p>
        </p:txBody>
      </p:sp>
      <p:sp>
        <p:nvSpPr>
          <p:cNvPr id="43" name="AMOS LABS · CONFIDENTIAL">
            <a:extLst xmlns:a="http://schemas.openxmlformats.org/drawingml/2006/main">
              <a:ext uri="{FF2B5EF4-FFF2-40B4-BE49-F238E27FC236}">
                <a16:creationId xmlns:a16="http://schemas.microsoft.com/office/drawing/2014/main" id="{B85DB35B-F4AB-4401-9085-FF52027BA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4290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800" b="1">
                <a:solidFill>
                  <a:srgbClr val="7B849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AMOS LABS · CONFIDENTIAL</a:t>
            </a:r>
          </a:p>
        </p:txBody>
      </p:sp>
      <p:sp>
        <p:nvSpPr>
          <p:cNvPr id="44" name="02">
            <a:extLst xmlns:a="http://schemas.openxmlformats.org/drawingml/2006/main">
              <a:ext uri="{FF2B5EF4-FFF2-40B4-BE49-F238E27FC236}">
                <a16:creationId xmlns:a16="http://schemas.microsoft.com/office/drawing/2014/main" id="{E0A7DD47-9E09-44D7-80BB-E23578AF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191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buNone/>
              <a:defRPr sz="800" b="1">
                <a:solidFill>
                  <a:srgbClr val="7B849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58494687"/>
      </p:ext>
    </p:extLst>
  </p:cSld>
</p:sld>
</file>

<file path=ppt/slides/slide3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eyebrow">
            <a:extLst xmlns:a="http://schemas.openxmlformats.org/drawingml/2006/main">
              <a:ext uri="{FF2B5EF4-FFF2-40B4-BE49-F238E27FC236}">
                <a16:creationId xmlns:a16="http://schemas.microsoft.com/office/drawing/2014/main" id="{E65A2EF1-D59E-4755-B5A5-FB882A78B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476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100" b="1">
                <a:solidFill>
                  <a:srgbClr val="7A3FF2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THE THESIS</a:t>
            </a:r>
          </a:p>
        </p:txBody>
      </p:sp>
      <p:sp>
        <p:nvSpPr>
          <p:cNvPr id="49" name="Models will keep changing.">
            <a:extLst xmlns:a="http://schemas.openxmlformats.org/drawingml/2006/main">
              <a:ext uri="{FF2B5EF4-FFF2-40B4-BE49-F238E27FC236}">
                <a16:creationId xmlns:a16="http://schemas.microsoft.com/office/drawing/2014/main" id="{50DDC435-B5F9-43D9-A673-33E00378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9048750" cy="8191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43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Models will keep changing.</a:t>
            </a:r>
          </a:p>
        </p:txBody>
      </p:sp>
      <p:sp>
        <p:nvSpPr>
          <p:cNvPr id="50" name="The company should not have to.">
            <a:extLst xmlns:a="http://schemas.openxmlformats.org/drawingml/2006/main">
              <a:ext uri="{FF2B5EF4-FFF2-40B4-BE49-F238E27FC236}">
                <a16:creationId xmlns:a16="http://schemas.microsoft.com/office/drawing/2014/main" id="{85756DBF-21AE-4B36-9893-A9AF78BB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9048750" cy="8191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4300" b="1">
                <a:solidFill>
                  <a:srgbClr val="5B8DE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Your company endures.</a:t>
            </a:r>
          </a:p>
        </p:txBody>
      </p:sp>
      <p:sp>
        <p:nvSpPr>
          <p:cNvPr id="51" name="AMOS holds the durable company memory, connections, rules, permissions, actions and proof. Claude, GPT, Codex—or the next great model—operates through the same governed surface.">
            <a:extLst xmlns:a="http://schemas.openxmlformats.org/drawingml/2006/main">
              <a:ext uri="{FF2B5EF4-FFF2-40B4-BE49-F238E27FC236}">
                <a16:creationId xmlns:a16="http://schemas.microsoft.com/office/drawing/2014/main" id="{6CE3734E-C955-4357-A378-E9174428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95700"/>
            <a:ext cx="8858250" cy="12382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2000">
                <a:solidFill>
                  <a:srgbClr val="5B647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AMOS holds the durable company memory, connections, rules, permissions, actions and proof. Claude, GPT, Codex—or the next great model—operates through the same governed surface.</a:t>
            </a:r>
          </a:p>
        </p:txBody>
      </p:sp>
      <p:sp>
        <p:nvSpPr>
          <p:cNvPr id="52" name="Rounded Rectangle">
            <a:extLst xmlns:a="http://schemas.openxmlformats.org/drawingml/2006/main">
              <a:ext uri="{FF2B5EF4-FFF2-40B4-BE49-F238E27FC236}">
                <a16:creationId xmlns:a16="http://schemas.microsoft.com/office/drawing/2014/main" id="{A5B87567-6C1D-44D2-A7E2-9840A94D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504950"/>
            <a:ext cx="1676400" cy="32956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0C1424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3" name="CHANGE">
            <a:extLst xmlns:a="http://schemas.openxmlformats.org/drawingml/2006/main">
              <a:ext uri="{FF2B5EF4-FFF2-40B4-BE49-F238E27FC236}">
                <a16:creationId xmlns:a16="http://schemas.microsoft.com/office/drawing/2014/main" id="{F5D8CCFA-5AD9-4A1A-AA48-AE956CE6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790700"/>
            <a:ext cx="1219200" cy="2286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 sz="1000" b="1">
                <a:solidFill>
                  <a:srgbClr val="5B8DE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CHANGE</a:t>
            </a:r>
          </a:p>
        </p:txBody>
      </p:sp>
      <p:sp>
        <p:nvSpPr>
          <p:cNvPr id="54" name="the…">
            <a:extLst xmlns:a="http://schemas.openxmlformats.org/drawingml/2006/main">
              <a:ext uri="{FF2B5EF4-FFF2-40B4-BE49-F238E27FC236}">
                <a16:creationId xmlns:a16="http://schemas.microsoft.com/office/drawing/2014/main" id="{0ABDF986-88CF-4632-8899-CAFB3636B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209800"/>
            <a:ext cx="1447800" cy="8191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the</a:t>
            </a:r>
          </a:p>
          <a:p xmlns:a="http://schemas.openxmlformats.org/drawingml/2006/main">
            <a:pPr algn="ctr">
              <a:buNone/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intelligence</a:t>
            </a:r>
          </a:p>
        </p:txBody>
      </p:sp>
      <p:sp>
        <p:nvSpPr>
          <p:cNvPr id="55" name="Line">
            <a:extLst xmlns:a="http://schemas.openxmlformats.org/drawingml/2006/main">
              <a:ext uri="{FF2B5EF4-FFF2-40B4-BE49-F238E27FC236}">
                <a16:creationId xmlns:a16="http://schemas.microsoft.com/office/drawing/2014/main" id="{D9E0E19B-D338-47B7-B499-8FCBE7AC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257550"/>
            <a:ext cx="1028705" cy="9525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52607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" name="KEEP">
            <a:extLst xmlns:a="http://schemas.openxmlformats.org/drawingml/2006/main">
              <a:ext uri="{FF2B5EF4-FFF2-40B4-BE49-F238E27FC236}">
                <a16:creationId xmlns:a16="http://schemas.microsoft.com/office/drawing/2014/main" id="{F1252032-42D3-45FB-8CFD-2F9ED3AF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524250"/>
            <a:ext cx="1219200" cy="2286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 sz="1000" b="1">
                <a:solidFill>
                  <a:srgbClr val="26B47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KEEP</a:t>
            </a:r>
          </a:p>
        </p:txBody>
      </p:sp>
      <p:sp>
        <p:nvSpPr>
          <p:cNvPr id="57" name="the…">
            <a:extLst xmlns:a="http://schemas.openxmlformats.org/drawingml/2006/main">
              <a:ext uri="{FF2B5EF4-FFF2-40B4-BE49-F238E27FC236}">
                <a16:creationId xmlns:a16="http://schemas.microsoft.com/office/drawing/2014/main" id="{991FF337-D7A0-43FE-BB91-FC7B8602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943350"/>
            <a:ext cx="1295400" cy="666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the</a:t>
            </a:r>
          </a:p>
          <a:p xmlns:a="http://schemas.openxmlformats.org/drawingml/2006/main">
            <a:pPr algn="ctr">
              <a:buNone/>
              <a:defRPr sz="2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company</a:t>
            </a:r>
          </a:p>
        </p:txBody>
      </p:sp>
      <p:sp>
        <p:nvSpPr>
          <p:cNvPr id="58" name="AMOS LABS · CONFIDENTIAL">
            <a:extLst xmlns:a="http://schemas.openxmlformats.org/drawingml/2006/main">
              <a:ext uri="{FF2B5EF4-FFF2-40B4-BE49-F238E27FC236}">
                <a16:creationId xmlns:a16="http://schemas.microsoft.com/office/drawing/2014/main" id="{43FEAD2C-ABC5-4E96-82E8-8EB11B20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4290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800" b="1">
                <a:solidFill>
                  <a:srgbClr val="7B849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AMOS LABS · CONFIDENTIAL</a:t>
            </a:r>
          </a:p>
        </p:txBody>
      </p:sp>
      <p:sp>
        <p:nvSpPr>
          <p:cNvPr id="59" name="03">
            <a:extLst xmlns:a="http://schemas.openxmlformats.org/drawingml/2006/main">
              <a:ext uri="{FF2B5EF4-FFF2-40B4-BE49-F238E27FC236}">
                <a16:creationId xmlns:a16="http://schemas.microsoft.com/office/drawing/2014/main" id="{0901D38B-5E35-4CE6-B1FE-5397AD6C0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191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buNone/>
              <a:defRPr sz="800" b="1">
                <a:solidFill>
                  <a:srgbClr val="7B849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94606709"/>
      </p:ext>
    </p:extLst>
  </p:cSld>
</p:sld>
</file>

<file path=ppt/slides/slide4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eyebrow">
            <a:extLst xmlns:a="http://schemas.openxmlformats.org/drawingml/2006/main">
              <a:ext uri="{FF2B5EF4-FFF2-40B4-BE49-F238E27FC236}">
                <a16:creationId xmlns:a16="http://schemas.microsoft.com/office/drawing/2014/main" id="{60275BD2-9DC2-4961-9903-A419274EE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476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100" b="1">
                <a:solidFill>
                  <a:srgbClr val="7A3FF2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PRODUCT IN 71 SECONDS</a:t>
            </a:r>
          </a:p>
        </p:txBody>
      </p:sp>
      <p:sp>
        <p:nvSpPr>
          <p:cNvPr id="64" name="See the complete loop…">
            <a:extLst xmlns:a="http://schemas.openxmlformats.org/drawingml/2006/main">
              <a:ext uri="{FF2B5EF4-FFF2-40B4-BE49-F238E27FC236}">
                <a16:creationId xmlns:a16="http://schemas.microsoft.com/office/drawing/2014/main" id="{BACC1F11-6A65-4AB2-B28C-158AB9947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0195"/>
            <a:ext cx="9906000" cy="92810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/>
          <a:p xmlns:a="http://schemas.openxmlformats.org/drawingml/2006/main">
            <a:pPr defTabSz="859536">
              <a:buNone/>
              <a:defRPr sz="27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t>See the complete loop</a:t>
            </a:r>
          </a:p>
          <a:p xmlns:a="http://schemas.openxmlformats.org/drawingml/2006/main">
            <a:pPr defTabSz="429768">
              <a:buNone/>
              <a:defRPr sz="1500">
                <a:latin typeface="Times Roman"/>
                <a:ea typeface="Times Roman"/>
                <a:cs typeface="Times Roman"/>
              </a:defRPr>
            </a:pPr>
          </a:p>
          <a:p xmlns:a="http://schemas.openxmlformats.org/drawingml/2006/main">
            <a:pPr defTabSz="429768">
              <a:buNone/>
              <a:defRPr sz="1700">
                <a:latin typeface="Times Roman"/>
                <a:ea typeface="Times Roman"/>
                <a:cs typeface="Times Roman"/>
              </a:defRPr>
            </a:pPr>
            <a:r>
              <a:t>Connect → understand → act → approve → prove → learn</a:t>
            </a:r>
          </a:p>
        </p:txBody>
      </p:sp>
      <p:sp>
        <p:nvSpPr>
          <p:cNvPr id="65" name="Rounded Rectangle">
            <a:extLst xmlns:a="http://schemas.openxmlformats.org/drawingml/2006/main">
              <a:ext uri="{FF2B5EF4-FFF2-40B4-BE49-F238E27FC236}">
                <a16:creationId xmlns:a16="http://schemas.microsoft.com/office/drawing/2014/main" id="{1FFC8E47-D275-46E5-8569-E97D46B8A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8096250" cy="4019550"/>
          </a:xfrm>
          <a:prstGeom xmlns:a="http://schemas.openxmlformats.org/drawingml/2006/main" prst="roundRect">
            <a:avLst>
              <a:gd name="adj" fmla="val 1896"/>
            </a:avLst>
          </a:prstGeom>
          <a:solidFill xmlns:a="http://schemas.openxmlformats.org/drawingml/2006/main">
            <a:srgbClr val="0C1424"/>
          </a:solidFill>
          <a:ln xmlns:a="http://schemas.openxmlformats.org/drawingml/2006/main">
            <a:solidFill>
              <a:srgbClr val="C9CFDA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82" name="image2.jpe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c48b5dfb304f8c"/>
          <a:srcRect xmlns:a="http://schemas.openxmlformats.org/drawingml/2006/main" l="0" t="6728" r="0" b="67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885948"/>
            <a:ext cx="7943850" cy="3867156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67" name="Square">
            <a:extLst xmlns:a="http://schemas.openxmlformats.org/drawingml/2006/main">
              <a:ext uri="{FF2B5EF4-FFF2-40B4-BE49-F238E27FC236}">
                <a16:creationId xmlns:a16="http://schemas.microsoft.com/office/drawing/2014/main" id="{B6D4521D-569E-406A-B94F-2501470E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09800"/>
            <a:ext cx="1714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9CFDA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84" name="image3.jpe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c043432aeb4f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01200" y="2286000"/>
            <a:ext cx="1562100" cy="15621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69" name="WATCH">
            <a:extLst xmlns:a="http://schemas.openxmlformats.org/drawingml/2006/main">
              <a:ext uri="{FF2B5EF4-FFF2-40B4-BE49-F238E27FC236}">
                <a16:creationId xmlns:a16="http://schemas.microsoft.com/office/drawing/2014/main" id="{A80FBB9C-014C-4938-88AD-EDC6A45B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71950"/>
            <a:ext cx="1714500" cy="2286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 sz="1000" b="1">
                <a:solidFill>
                  <a:srgbClr val="7A3FF2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WATCH</a:t>
            </a:r>
          </a:p>
        </p:txBody>
      </p:sp>
      <p:sp>
        <p:nvSpPr>
          <p:cNvPr id="70" name="AMOS Launch Video">
            <a:extLst xmlns:a="http://schemas.openxmlformats.org/drawingml/2006/main">
              <a:ext uri="{FF2B5EF4-FFF2-40B4-BE49-F238E27FC236}">
                <a16:creationId xmlns:a16="http://schemas.microsoft.com/office/drawing/2014/main" id="{C76C8848-8DB9-448B-8F74-D8720D2E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495800"/>
            <a:ext cx="2362200" cy="304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 sz="16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AMOS Launch Video</a:t>
            </a:r>
          </a:p>
        </p:txBody>
      </p:sp>
      <p:sp>
        <p:nvSpPr>
          <p:cNvPr id="71" name="youtube.com/watch?v=KfWwN2SHEf0">
            <a:extLst xmlns:a="http://schemas.openxmlformats.org/drawingml/2006/main">
              <a:ext uri="{FF2B5EF4-FFF2-40B4-BE49-F238E27FC236}">
                <a16:creationId xmlns:a16="http://schemas.microsoft.com/office/drawing/2014/main" id="{C5EA0CF4-FB76-419C-8727-80010B470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914900"/>
            <a:ext cx="2628900" cy="42862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 sz="900">
                <a:solidFill>
                  <a:srgbClr val="5B647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youtube.com/watch?v=KfWwN2SHEf0</a:t>
            </a:r>
          </a:p>
        </p:txBody>
      </p:sp>
      <p:sp>
        <p:nvSpPr>
          <p:cNvPr id="72" name="AMOS LABS · CONFIDENTIAL">
            <a:extLst xmlns:a="http://schemas.openxmlformats.org/drawingml/2006/main">
              <a:ext uri="{FF2B5EF4-FFF2-40B4-BE49-F238E27FC236}">
                <a16:creationId xmlns:a16="http://schemas.microsoft.com/office/drawing/2014/main" id="{85F78FD4-CB12-4AD5-B501-7CF55286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4290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800" b="1">
                <a:solidFill>
                  <a:srgbClr val="7B849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AMOS LABS · CONFIDENTIAL</a:t>
            </a:r>
          </a:p>
        </p:txBody>
      </p:sp>
      <p:sp>
        <p:nvSpPr>
          <p:cNvPr id="73" name="Source: AMOS launch video on YouTube">
            <a:extLst xmlns:a="http://schemas.openxmlformats.org/drawingml/2006/main">
              <a:ext uri="{FF2B5EF4-FFF2-40B4-BE49-F238E27FC236}">
                <a16:creationId xmlns:a16="http://schemas.microsoft.com/office/drawing/2014/main" id="{2FAEC2B9-626F-4D60-89A1-6163883B7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381750"/>
            <a:ext cx="657225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buNone/>
              <a:defRPr sz="700">
                <a:solidFill>
                  <a:srgbClr val="7B849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Source: AMOS launch video on YouTube</a:t>
            </a:r>
          </a:p>
        </p:txBody>
      </p:sp>
      <p:sp>
        <p:nvSpPr>
          <p:cNvPr id="74" name="05">
            <a:extLst xmlns:a="http://schemas.openxmlformats.org/drawingml/2006/main">
              <a:ext uri="{FF2B5EF4-FFF2-40B4-BE49-F238E27FC236}">
                <a16:creationId xmlns:a16="http://schemas.microsoft.com/office/drawing/2014/main" id="{613F2FF1-B194-45F3-85C2-DBCBF965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191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buNone/>
              <a:defRPr sz="800" b="1">
                <a:solidFill>
                  <a:srgbClr val="7B849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04</a:t>
            </a:r>
          </a:p>
        </p:txBody>
      </p:sp>
      <p:sp>
        <p:nvSpPr>
          <p:cNvPr id="75" name="Rectangle">
            <a:extLst xmlns:a="http://schemas.openxmlformats.org/drawingml/2006/main">
              <a:ext uri="{FF2B5EF4-FFF2-40B4-BE49-F238E27FC236}">
                <a16:creationId xmlns:a16="http://schemas.microsoft.com/office/drawing/2014/main" id="{2B867B1B-394A-4774-888E-2F6B9E56E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367337"/>
            <a:ext cx="2400300" cy="3238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3FF2"/>
          </a:solidFill>
          <a:ln xmlns:a="http://schemas.openxmlformats.org/drawingml/2006/main" w="3175">
            <a:solidFill>
              <a:srgbClr val="7A3FF2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</a:p>
        </p:txBody>
      </p:sp>
      <p:sp>
        <p:nvSpPr>
          <p:cNvPr id="76" name="Open the 71-second video ↗">
            <a:extLst xmlns:a="http://schemas.openxmlformats.org/drawingml/2006/main">
              <a:ext uri="{FF2B5EF4-FFF2-40B4-BE49-F238E27FC236}">
                <a16:creationId xmlns:a16="http://schemas.microsoft.com/office/drawing/2014/main" id="{83BD2F53-F946-4F73-887A-2A379B70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7818" y="5397134"/>
            <a:ext cx="2308866" cy="26425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 anchor="ctr">
            <a:spAutoFit/>
          </a:bodyPr>
          <a:lstStyle xmlns:a="http://schemas.openxmlformats.org/drawingml/2006/main">
            <a:lvl1pPr algn="ctr">
              <a:buNone/>
              <a:defRPr sz="1200" b="1" u="sng">
                <a:solidFill>
                  <a:srgbClr val="0000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rPr>
                <a:hlinkClick xmlns:r="http://schemas.openxmlformats.org/officeDocument/2006/relationships" r:id="Rfe6b1a302b5548d0"/>
              </a:rPr>
              <a:t>Open the 71-second video ↗</a:t>
            </a:r>
          </a:p>
        </p:txBody>
      </p:sp>
    </p:spTree>
    <p:extLst>
      <p:ext uri="{BB962C8B-B14F-4D97-AF65-F5344CB8AC3E}">
        <p14:creationId xmlns:p14="http://schemas.microsoft.com/office/powerpoint/2010/main" val="1006805912"/>
      </p:ext>
    </p:extLst>
  </p:cSld>
</p:sld>
</file>

<file path=ppt/slides/slide5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" name="eyebrow">
            <a:extLst xmlns:a="http://schemas.openxmlformats.org/drawingml/2006/main">
              <a:ext uri="{FF2B5EF4-FFF2-40B4-BE49-F238E27FC236}">
                <a16:creationId xmlns:a16="http://schemas.microsoft.com/office/drawing/2014/main" id="{3E06A3ED-D045-48D4-AD01-6AB6D0A46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476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100" b="1">
                <a:solidFill>
                  <a:srgbClr val="7A3FF2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PRODUCT ARCHITECTURE</a:t>
            </a:r>
          </a:p>
        </p:txBody>
      </p:sp>
      <p:sp>
        <p:nvSpPr>
          <p:cNvPr id="81" name="Change the intelligence without reconnecting the company.">
            <a:extLst xmlns:a="http://schemas.openxmlformats.org/drawingml/2006/main">
              <a:ext uri="{FF2B5EF4-FFF2-40B4-BE49-F238E27FC236}">
                <a16:creationId xmlns:a16="http://schemas.microsoft.com/office/drawing/2014/main" id="{AA8BACA3-54F7-4871-98C4-1EBA3E33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287000" cy="5905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28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Change the intelligence without reconnecting the company.</a:t>
            </a:r>
          </a:p>
        </p:txBody>
      </p:sp>
      <p:sp>
        <p:nvSpPr>
          <p:cNvPr id="82" name="Line">
            <a:extLst xmlns:a="http://schemas.openxmlformats.org/drawingml/2006/main">
              <a:ext uri="{FF2B5EF4-FFF2-40B4-BE49-F238E27FC236}">
                <a16:creationId xmlns:a16="http://schemas.microsoft.com/office/drawing/2014/main" id="{F659148F-5640-4E2E-B3A0-3CEFEA3AE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997" y="2162171"/>
            <a:ext cx="9530" cy="542933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9CFDA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3" name="Line">
            <a:extLst xmlns:a="http://schemas.openxmlformats.org/drawingml/2006/main">
              <a:ext uri="{FF2B5EF4-FFF2-40B4-BE49-F238E27FC236}">
                <a16:creationId xmlns:a16="http://schemas.microsoft.com/office/drawing/2014/main" id="{B936E274-3970-45A3-A568-C9E71062B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997" y="4000496"/>
            <a:ext cx="9530" cy="542933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9CFDA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4" name="Rounded Rectangle">
            <a:extLst xmlns:a="http://schemas.openxmlformats.org/drawingml/2006/main">
              <a:ext uri="{FF2B5EF4-FFF2-40B4-BE49-F238E27FC236}">
                <a16:creationId xmlns:a16="http://schemas.microsoft.com/office/drawing/2014/main" id="{0DCD5B5A-1345-44A7-A192-39400B22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76400"/>
            <a:ext cx="9906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9CFDA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5" name="THE INTELLIGENCE">
            <a:extLst xmlns:a="http://schemas.openxmlformats.org/drawingml/2006/main">
              <a:ext uri="{FF2B5EF4-FFF2-40B4-BE49-F238E27FC236}">
                <a16:creationId xmlns:a16="http://schemas.microsoft.com/office/drawing/2014/main" id="{EF4A7BF0-451C-4703-8DC6-97B45C46B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66900"/>
            <a:ext cx="2095500" cy="2095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000" b="1">
                <a:solidFill>
                  <a:srgbClr val="7A3FF2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THE INTELLIGENCE</a:t>
            </a:r>
          </a:p>
        </p:txBody>
      </p:sp>
      <p:sp>
        <p:nvSpPr>
          <p:cNvPr id="86" name="Claude  ·  GPT  ·  Codex  ·  open-weight models  ·  any MCP client">
            <a:extLst xmlns:a="http://schemas.openxmlformats.org/drawingml/2006/main">
              <a:ext uri="{FF2B5EF4-FFF2-40B4-BE49-F238E27FC236}">
                <a16:creationId xmlns:a16="http://schemas.microsoft.com/office/drawing/2014/main" id="{8A1AB3FD-9783-4E5C-AD3F-8C94FB0EF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828800"/>
            <a:ext cx="657225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 sz="16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Claude  ·  GPT  ·  Codex  ·  open-weight models  ·  any MCP client</a:t>
            </a:r>
          </a:p>
        </p:txBody>
      </p:sp>
      <p:sp>
        <p:nvSpPr>
          <p:cNvPr id="87" name="Rounded Rectangle">
            <a:extLst xmlns:a="http://schemas.openxmlformats.org/drawingml/2006/main">
              <a:ext uri="{FF2B5EF4-FFF2-40B4-BE49-F238E27FC236}">
                <a16:creationId xmlns:a16="http://schemas.microsoft.com/office/drawing/2014/main" id="{A68ABC94-43AD-4455-9645-C978A827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106299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C1424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8" name="AMOS CONTROL PLANE">
            <a:extLst xmlns:a="http://schemas.openxmlformats.org/drawingml/2006/main">
              <a:ext uri="{FF2B5EF4-FFF2-40B4-BE49-F238E27FC236}">
                <a16:creationId xmlns:a16="http://schemas.microsoft.com/office/drawing/2014/main" id="{48A717B7-A9BA-45EB-8747-112390035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33700"/>
            <a:ext cx="2476500" cy="2095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000" b="1">
                <a:solidFill>
                  <a:srgbClr val="5B8DE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AMOS CONTROL PLANE</a:t>
            </a:r>
          </a:p>
        </p:txBody>
      </p:sp>
      <p:sp>
        <p:nvSpPr>
          <p:cNvPr id="89" name="Company memory">
            <a:extLst xmlns:a="http://schemas.openxmlformats.org/drawingml/2006/main">
              <a:ext uri="{FF2B5EF4-FFF2-40B4-BE49-F238E27FC236}">
                <a16:creationId xmlns:a16="http://schemas.microsoft.com/office/drawing/2014/main" id="{139E09FA-1420-48E6-872D-6CF68D6F5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33750"/>
            <a:ext cx="1695450" cy="2667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Company memory</a:t>
            </a:r>
          </a:p>
        </p:txBody>
      </p:sp>
      <p:sp>
        <p:nvSpPr>
          <p:cNvPr id="90" name="Connections">
            <a:extLst xmlns:a="http://schemas.openxmlformats.org/drawingml/2006/main">
              <a:ext uri="{FF2B5EF4-FFF2-40B4-BE49-F238E27FC236}">
                <a16:creationId xmlns:a16="http://schemas.microsoft.com/office/drawing/2014/main" id="{624CB830-46FB-4D01-9D58-FFCBB46B8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333750"/>
            <a:ext cx="1409700" cy="2667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Connections</a:t>
            </a:r>
          </a:p>
        </p:txBody>
      </p:sp>
      <p:sp>
        <p:nvSpPr>
          <p:cNvPr id="91" name="Policies">
            <a:extLst xmlns:a="http://schemas.openxmlformats.org/drawingml/2006/main">
              <a:ext uri="{FF2B5EF4-FFF2-40B4-BE49-F238E27FC236}">
                <a16:creationId xmlns:a16="http://schemas.microsoft.com/office/drawing/2014/main" id="{093B85D6-F08C-4838-A91F-796DA16E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33750"/>
            <a:ext cx="1047750" cy="2667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Policies</a:t>
            </a:r>
          </a:p>
        </p:txBody>
      </p:sp>
      <p:sp>
        <p:nvSpPr>
          <p:cNvPr id="92" name="Actions">
            <a:extLst xmlns:a="http://schemas.openxmlformats.org/drawingml/2006/main">
              <a:ext uri="{FF2B5EF4-FFF2-40B4-BE49-F238E27FC236}">
                <a16:creationId xmlns:a16="http://schemas.microsoft.com/office/drawing/2014/main" id="{B6DB7FE8-97BD-4673-8ADF-A9E5C526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33750"/>
            <a:ext cx="1000125" cy="2667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Actions</a:t>
            </a:r>
          </a:p>
        </p:txBody>
      </p:sp>
      <p:sp>
        <p:nvSpPr>
          <p:cNvPr id="93" name="Approvals">
            <a:extLst xmlns:a="http://schemas.openxmlformats.org/drawingml/2006/main">
              <a:ext uri="{FF2B5EF4-FFF2-40B4-BE49-F238E27FC236}">
                <a16:creationId xmlns:a16="http://schemas.microsoft.com/office/drawing/2014/main" id="{0EF50E7D-3D86-4649-9E78-D665A218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33750"/>
            <a:ext cx="1190625" cy="2667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Approvals</a:t>
            </a:r>
          </a:p>
        </p:txBody>
      </p:sp>
      <p:sp>
        <p:nvSpPr>
          <p:cNvPr id="94" name="Receipts">
            <a:extLst xmlns:a="http://schemas.openxmlformats.org/drawingml/2006/main">
              <a:ext uri="{FF2B5EF4-FFF2-40B4-BE49-F238E27FC236}">
                <a16:creationId xmlns:a16="http://schemas.microsoft.com/office/drawing/2014/main" id="{E9F13E9B-DF27-45C6-8B2F-F02BC317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333750"/>
            <a:ext cx="1143000" cy="2667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Receipts</a:t>
            </a:r>
          </a:p>
        </p:txBody>
      </p:sp>
      <p:sp>
        <p:nvSpPr>
          <p:cNvPr id="95" name="Rounded Rectangle">
            <a:extLst xmlns:a="http://schemas.openxmlformats.org/drawingml/2006/main">
              <a:ext uri="{FF2B5EF4-FFF2-40B4-BE49-F238E27FC236}">
                <a16:creationId xmlns:a16="http://schemas.microsoft.com/office/drawing/2014/main" id="{C0D81603-90F7-4119-9914-7F89FFD0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52950"/>
            <a:ext cx="9906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9CFDA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6" name="THE COMPANY">
            <a:extLst xmlns:a="http://schemas.openxmlformats.org/drawingml/2006/main">
              <a:ext uri="{FF2B5EF4-FFF2-40B4-BE49-F238E27FC236}">
                <a16:creationId xmlns:a16="http://schemas.microsoft.com/office/drawing/2014/main" id="{BF64DDDA-F443-4093-AD5A-954AE231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62500"/>
            <a:ext cx="1809750" cy="2095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000" b="1">
                <a:solidFill>
                  <a:srgbClr val="F36C4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THE COMPANY</a:t>
            </a:r>
          </a:p>
        </p:txBody>
      </p:sp>
      <p:sp>
        <p:nvSpPr>
          <p:cNvPr id="97" name="CRM  ·  finance  ·  ERP  ·  documents  ·  marketing  ·  databases  ·  bespoke apps">
            <a:extLst xmlns:a="http://schemas.openxmlformats.org/drawingml/2006/main">
              <a:ext uri="{FF2B5EF4-FFF2-40B4-BE49-F238E27FC236}">
                <a16:creationId xmlns:a16="http://schemas.microsoft.com/office/drawing/2014/main" id="{EC3DB7A3-A5C4-43AA-B237-8E3B4B0A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724400"/>
            <a:ext cx="7048500" cy="3810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 sz="13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CRM  ·  finance  ·  ERP  ·  documents  ·  marketing  ·  databases  ·  bespoke apps</a:t>
            </a:r>
          </a:p>
        </p:txBody>
      </p:sp>
      <p:sp>
        <p:nvSpPr>
          <p:cNvPr id="98" name="AMOS LABS · CONFIDENTIAL">
            <a:extLst xmlns:a="http://schemas.openxmlformats.org/drawingml/2006/main">
              <a:ext uri="{FF2B5EF4-FFF2-40B4-BE49-F238E27FC236}">
                <a16:creationId xmlns:a16="http://schemas.microsoft.com/office/drawing/2014/main" id="{52D67F29-4348-4841-B539-96374B5B6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4290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800" b="1">
                <a:solidFill>
                  <a:srgbClr val="7B849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AMOS LABS · CONFIDENTIAL</a:t>
            </a:r>
          </a:p>
        </p:txBody>
      </p:sp>
      <p:sp>
        <p:nvSpPr>
          <p:cNvPr id="99" name="06">
            <a:extLst xmlns:a="http://schemas.openxmlformats.org/drawingml/2006/main">
              <a:ext uri="{FF2B5EF4-FFF2-40B4-BE49-F238E27FC236}">
                <a16:creationId xmlns:a16="http://schemas.microsoft.com/office/drawing/2014/main" id="{B78B43CE-6B8A-46C1-9A02-09293A4A5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191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buNone/>
              <a:defRPr sz="800" b="1">
                <a:solidFill>
                  <a:srgbClr val="7B849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06093945"/>
      </p:ext>
    </p:extLst>
  </p:cSld>
</p:sld>
</file>

<file path=ppt/slides/slide6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3" name="eyebrow">
            <a:extLst xmlns:a="http://schemas.openxmlformats.org/drawingml/2006/main">
              <a:ext uri="{FF2B5EF4-FFF2-40B4-BE49-F238E27FC236}">
                <a16:creationId xmlns:a16="http://schemas.microsoft.com/office/drawing/2014/main" id="{3F9A761B-3D71-48DA-9DD1-1CA172160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476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100" b="1">
                <a:solidFill>
                  <a:srgbClr val="7A3FF2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THE COMPOUNDING MOAT</a:t>
            </a:r>
          </a:p>
        </p:txBody>
      </p:sp>
      <p:sp>
        <p:nvSpPr>
          <p:cNvPr id="104" name="Every action leaves proof. Every proof improves the next action.">
            <a:extLst xmlns:a="http://schemas.openxmlformats.org/drawingml/2006/main">
              <a:ext uri="{FF2B5EF4-FFF2-40B4-BE49-F238E27FC236}">
                <a16:creationId xmlns:a16="http://schemas.microsoft.com/office/drawing/2014/main" id="{F51254A9-3288-4E6F-AF48-5907FA1E2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477500" cy="6477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26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Every action leaves proof. Every proof improves the next action.</a:t>
            </a:r>
          </a:p>
        </p:txBody>
      </p:sp>
      <p:sp>
        <p:nvSpPr>
          <p:cNvPr id="105" name="A receipt binds intent, context, policy checks, approval, evidence and outcome. Over time, that becomes governed organizational learning—not a pile of chat history.">
            <a:extLst xmlns:a="http://schemas.openxmlformats.org/drawingml/2006/main">
              <a:ext uri="{FF2B5EF4-FFF2-40B4-BE49-F238E27FC236}">
                <a16:creationId xmlns:a16="http://schemas.microsoft.com/office/drawing/2014/main" id="{A8C092BD-37AA-4781-9161-405BE8E4D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9906000" cy="7429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700">
                <a:solidFill>
                  <a:srgbClr val="5B647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 receipt binds intent, context, policy checks, approval, evidence and outcome. Over time, that becomes governed organizational learning—not a pile of chat history.</a:t>
            </a:r>
          </a:p>
        </p:txBody>
      </p:sp>
      <p:sp>
        <p:nvSpPr>
          <p:cNvPr id="106" name="Line">
            <a:extLst xmlns:a="http://schemas.openxmlformats.org/drawingml/2006/main">
              <a:ext uri="{FF2B5EF4-FFF2-40B4-BE49-F238E27FC236}">
                <a16:creationId xmlns:a16="http://schemas.microsoft.com/office/drawing/2014/main" id="{41985C13-6137-43D6-A04D-99BAAF9B6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47" y="3581398"/>
            <a:ext cx="9239256" cy="9529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9CFDA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7" name="Line">
            <a:extLst xmlns:a="http://schemas.openxmlformats.org/drawingml/2006/main">
              <a:ext uri="{FF2B5EF4-FFF2-40B4-BE49-F238E27FC236}">
                <a16:creationId xmlns:a16="http://schemas.microsoft.com/office/drawing/2014/main" id="{C80B5CA1-9DF2-4510-9C08-903EDECD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498" y="3476621"/>
            <a:ext cx="190505" cy="104781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9CFDA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8" name="Line">
            <a:extLst xmlns:a="http://schemas.openxmlformats.org/drawingml/2006/main">
              <a:ext uri="{FF2B5EF4-FFF2-40B4-BE49-F238E27FC236}">
                <a16:creationId xmlns:a16="http://schemas.microsoft.com/office/drawing/2014/main" id="{B7240BDD-1ADF-423C-9EC7-2C9FF1BD2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498" y="3581396"/>
            <a:ext cx="190505" cy="104781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9CFDA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9" name="Circle">
            <a:extLst xmlns:a="http://schemas.openxmlformats.org/drawingml/2006/main">
              <a:ext uri="{FF2B5EF4-FFF2-40B4-BE49-F238E27FC236}">
                <a16:creationId xmlns:a16="http://schemas.microsoft.com/office/drawing/2014/main" id="{8D0AED8D-650B-4A78-84AE-A4496345A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956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DEF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10" name="Circle">
            <a:extLst xmlns:a="http://schemas.openxmlformats.org/drawingml/2006/main">
              <a:ext uri="{FF2B5EF4-FFF2-40B4-BE49-F238E27FC236}">
                <a16:creationId xmlns:a16="http://schemas.microsoft.com/office/drawing/2014/main" id="{4FD55E51-49E3-42E2-8A03-17F008BEC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2956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3FF2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11" name="Circle">
            <a:extLst xmlns:a="http://schemas.openxmlformats.org/drawingml/2006/main">
              <a:ext uri="{FF2B5EF4-FFF2-40B4-BE49-F238E27FC236}">
                <a16:creationId xmlns:a16="http://schemas.microsoft.com/office/drawing/2014/main" id="{F0C70B92-1990-4ACA-91E1-C905614FD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956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6C4F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12" name="Circle">
            <a:extLst xmlns:a="http://schemas.openxmlformats.org/drawingml/2006/main">
              <a:ext uri="{FF2B5EF4-FFF2-40B4-BE49-F238E27FC236}">
                <a16:creationId xmlns:a16="http://schemas.microsoft.com/office/drawing/2014/main" id="{33FF01BF-1E0D-4BDA-A039-98FF3E24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2956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B47E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13" name="Circle">
            <a:extLst xmlns:a="http://schemas.openxmlformats.org/drawingml/2006/main">
              <a:ext uri="{FF2B5EF4-FFF2-40B4-BE49-F238E27FC236}">
                <a16:creationId xmlns:a16="http://schemas.microsoft.com/office/drawing/2014/main" id="{35A53DBF-921B-4F5A-B6E6-F61B017CA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2956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424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14" name="1">
            <a:extLst xmlns:a="http://schemas.openxmlformats.org/drawingml/2006/main">
              <a:ext uri="{FF2B5EF4-FFF2-40B4-BE49-F238E27FC236}">
                <a16:creationId xmlns:a16="http://schemas.microsoft.com/office/drawing/2014/main" id="{A56E16D0-FBE0-43EC-AE5F-F17E4E6E8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38525"/>
            <a:ext cx="571500" cy="2667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1</a:t>
            </a:r>
          </a:p>
        </p:txBody>
      </p:sp>
      <p:sp>
        <p:nvSpPr>
          <p:cNvPr id="115" name="2">
            <a:extLst xmlns:a="http://schemas.openxmlformats.org/drawingml/2006/main">
              <a:ext uri="{FF2B5EF4-FFF2-40B4-BE49-F238E27FC236}">
                <a16:creationId xmlns:a16="http://schemas.microsoft.com/office/drawing/2014/main" id="{19A9F18A-8239-4CD5-A628-1618B19AE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38525"/>
            <a:ext cx="571500" cy="2667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2</a:t>
            </a:r>
          </a:p>
        </p:txBody>
      </p:sp>
      <p:sp>
        <p:nvSpPr>
          <p:cNvPr id="116" name="3">
            <a:extLst xmlns:a="http://schemas.openxmlformats.org/drawingml/2006/main">
              <a:ext uri="{FF2B5EF4-FFF2-40B4-BE49-F238E27FC236}">
                <a16:creationId xmlns:a16="http://schemas.microsoft.com/office/drawing/2014/main" id="{DB23BD9D-F4E4-49FD-872E-F381D3B9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438525"/>
            <a:ext cx="571500" cy="2667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3</a:t>
            </a:r>
          </a:p>
        </p:txBody>
      </p:sp>
      <p:sp>
        <p:nvSpPr>
          <p:cNvPr id="117" name="4">
            <a:extLst xmlns:a="http://schemas.openxmlformats.org/drawingml/2006/main">
              <a:ext uri="{FF2B5EF4-FFF2-40B4-BE49-F238E27FC236}">
                <a16:creationId xmlns:a16="http://schemas.microsoft.com/office/drawing/2014/main" id="{EEF1868C-D5F3-48D9-9061-E6D844E0A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438525"/>
            <a:ext cx="571500" cy="2667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4</a:t>
            </a:r>
          </a:p>
        </p:txBody>
      </p:sp>
      <p:sp>
        <p:nvSpPr>
          <p:cNvPr id="118" name="5">
            <a:extLst xmlns:a="http://schemas.openxmlformats.org/drawingml/2006/main">
              <a:ext uri="{FF2B5EF4-FFF2-40B4-BE49-F238E27FC236}">
                <a16:creationId xmlns:a16="http://schemas.microsoft.com/office/drawing/2014/main" id="{F7FEB558-CFAC-4E70-A8F4-5C148AD3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438525"/>
            <a:ext cx="571500" cy="2667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5</a:t>
            </a:r>
          </a:p>
        </p:txBody>
      </p:sp>
      <p:sp>
        <p:nvSpPr>
          <p:cNvPr id="119" name="BUILD">
            <a:extLst xmlns:a="http://schemas.openxmlformats.org/drawingml/2006/main">
              <a:ext uri="{FF2B5EF4-FFF2-40B4-BE49-F238E27FC236}">
                <a16:creationId xmlns:a16="http://schemas.microsoft.com/office/drawing/2014/main" id="{611FA293-2564-4312-BA76-C9AC19A0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1066800" cy="2286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 sz="1100" b="1">
                <a:solidFill>
                  <a:srgbClr val="5B8DE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BUILD</a:t>
            </a:r>
          </a:p>
        </p:txBody>
      </p:sp>
      <p:sp>
        <p:nvSpPr>
          <p:cNvPr id="120" name="MEASURE">
            <a:extLst xmlns:a="http://schemas.openxmlformats.org/drawingml/2006/main">
              <a:ext uri="{FF2B5EF4-FFF2-40B4-BE49-F238E27FC236}">
                <a16:creationId xmlns:a16="http://schemas.microsoft.com/office/drawing/2014/main" id="{4F5E7BC5-18F5-431E-AFCE-02DB9574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095750"/>
            <a:ext cx="1143000" cy="2286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 sz="1100" b="1">
                <a:solidFill>
                  <a:srgbClr val="7A3FF2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MEASURE</a:t>
            </a:r>
          </a:p>
        </p:txBody>
      </p:sp>
      <p:sp>
        <p:nvSpPr>
          <p:cNvPr id="121" name="APPROVE + PROVE">
            <a:extLst xmlns:a="http://schemas.openxmlformats.org/drawingml/2006/main">
              <a:ext uri="{FF2B5EF4-FFF2-40B4-BE49-F238E27FC236}">
                <a16:creationId xmlns:a16="http://schemas.microsoft.com/office/drawing/2014/main" id="{CF08D055-CC26-40BF-AAF9-F921ACF8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095750"/>
            <a:ext cx="1428750" cy="2286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 sz="1100" b="1">
                <a:solidFill>
                  <a:srgbClr val="F36C4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APPROVE + PROVE</a:t>
            </a:r>
          </a:p>
        </p:txBody>
      </p:sp>
      <p:sp>
        <p:nvSpPr>
          <p:cNvPr id="122" name="LEARN">
            <a:extLst xmlns:a="http://schemas.openxmlformats.org/drawingml/2006/main">
              <a:ext uri="{FF2B5EF4-FFF2-40B4-BE49-F238E27FC236}">
                <a16:creationId xmlns:a16="http://schemas.microsoft.com/office/drawing/2014/main" id="{AD716C9B-4875-4CC9-86D4-A008E134E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095750"/>
            <a:ext cx="1066800" cy="2286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 sz="1100" b="1">
                <a:solidFill>
                  <a:srgbClr val="26B47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LEARN</a:t>
            </a:r>
          </a:p>
        </p:txBody>
      </p:sp>
      <p:sp>
        <p:nvSpPr>
          <p:cNvPr id="123" name="IMPROVE">
            <a:extLst xmlns:a="http://schemas.openxmlformats.org/drawingml/2006/main">
              <a:ext uri="{FF2B5EF4-FFF2-40B4-BE49-F238E27FC236}">
                <a16:creationId xmlns:a16="http://schemas.microsoft.com/office/drawing/2014/main" id="{0678F102-5CA1-4A5B-8EFE-10A9FB181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095750"/>
            <a:ext cx="1143000" cy="2286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 sz="1100" b="1">
                <a:solidFill>
                  <a:srgbClr val="0C142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IMPROVE</a:t>
            </a:r>
          </a:p>
        </p:txBody>
      </p:sp>
      <p:sp>
        <p:nvSpPr>
          <p:cNvPr id="124" name="The receipt graph compounds across actions, workflows, people and outcomes.">
            <a:extLst xmlns:a="http://schemas.openxmlformats.org/drawingml/2006/main">
              <a:ext uri="{FF2B5EF4-FFF2-40B4-BE49-F238E27FC236}">
                <a16:creationId xmlns:a16="http://schemas.microsoft.com/office/drawing/2014/main" id="{7267AF7A-201F-4687-8474-591553D4B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953000"/>
            <a:ext cx="8096250" cy="4000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 sz="16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The receipt graph compounds across actions, workflows, people and outcomes.</a:t>
            </a:r>
          </a:p>
        </p:txBody>
      </p:sp>
      <p:sp>
        <p:nvSpPr>
          <p:cNvPr id="125" name="AMOS LABS · CONFIDENTIAL">
            <a:extLst xmlns:a="http://schemas.openxmlformats.org/drawingml/2006/main">
              <a:ext uri="{FF2B5EF4-FFF2-40B4-BE49-F238E27FC236}">
                <a16:creationId xmlns:a16="http://schemas.microsoft.com/office/drawing/2014/main" id="{3D349C50-F3BB-45E0-9269-72C02EEB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4290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800" b="1">
                <a:solidFill>
                  <a:srgbClr val="7B849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AMOS LABS · CONFIDENTIAL</a:t>
            </a:r>
          </a:p>
        </p:txBody>
      </p:sp>
      <p:sp>
        <p:nvSpPr>
          <p:cNvPr id="126" name="Source: amoslabs.com — governed organizational learning">
            <a:extLst xmlns:a="http://schemas.openxmlformats.org/drawingml/2006/main">
              <a:ext uri="{FF2B5EF4-FFF2-40B4-BE49-F238E27FC236}">
                <a16:creationId xmlns:a16="http://schemas.microsoft.com/office/drawing/2014/main" id="{4B03D641-02CF-4E1B-B8E5-FA368FDF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381750"/>
            <a:ext cx="657225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buNone/>
              <a:defRPr sz="700">
                <a:solidFill>
                  <a:srgbClr val="7B849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Source: amoslabs.com — governed organizational learning</a:t>
            </a:r>
          </a:p>
        </p:txBody>
      </p:sp>
      <p:sp>
        <p:nvSpPr>
          <p:cNvPr id="127" name="07">
            <a:extLst xmlns:a="http://schemas.openxmlformats.org/drawingml/2006/main">
              <a:ext uri="{FF2B5EF4-FFF2-40B4-BE49-F238E27FC236}">
                <a16:creationId xmlns:a16="http://schemas.microsoft.com/office/drawing/2014/main" id="{3C1A9684-90EB-4564-987A-04B70D9D8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191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buNone/>
              <a:defRPr sz="800" b="1">
                <a:solidFill>
                  <a:srgbClr val="7B849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02207636"/>
      </p:ext>
    </p:extLst>
  </p:cSld>
</p:sld>
</file>

<file path=ppt/slides/slide7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1" name="eyebrow">
            <a:extLst xmlns:a="http://schemas.openxmlformats.org/drawingml/2006/main">
              <a:ext uri="{FF2B5EF4-FFF2-40B4-BE49-F238E27FC236}">
                <a16:creationId xmlns:a16="http://schemas.microsoft.com/office/drawing/2014/main" id="{631BAEB2-AD98-4F31-9826-AB52F824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476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100" b="1">
                <a:solidFill>
                  <a:srgbClr val="7A3FF2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LOCAL INTELLIGENCE</a:t>
            </a:r>
          </a:p>
        </p:txBody>
      </p:sp>
      <p:sp>
        <p:nvSpPr>
          <p:cNvPr id="322" name="Enterprise credibility. AI-native execution. Capital-efficient scale.">
            <a:extLst xmlns:a="http://schemas.openxmlformats.org/drawingml/2006/main">
              <a:ext uri="{FF2B5EF4-FFF2-40B4-BE49-F238E27FC236}">
                <a16:creationId xmlns:a16="http://schemas.microsoft.com/office/drawing/2014/main" id="{E4E7ADF4-A67B-4F45-BE18-14DB7CC1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668000" cy="6286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26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The intelligence follows the company home.</a:t>
            </a:r>
          </a:p>
        </p:txBody>
      </p:sp>
      <p:sp>
        <p:nvSpPr>
          <p:cNvPr id="323" name="Line">
            <a:extLst xmlns:a="http://schemas.openxmlformats.org/drawingml/2006/main">
              <a:ext uri="{FF2B5EF4-FFF2-40B4-BE49-F238E27FC236}">
                <a16:creationId xmlns:a16="http://schemas.microsoft.com/office/drawing/2014/main" id="{FE00D001-E1AD-4D55-B838-938D226D2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995" y="1809750"/>
            <a:ext cx="9534" cy="37719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9CFDA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24" name="RICK BARKLEY">
            <a:extLst xmlns:a="http://schemas.openxmlformats.org/drawingml/2006/main">
              <a:ext uri="{FF2B5EF4-FFF2-40B4-BE49-F238E27FC236}">
                <a16:creationId xmlns:a16="http://schemas.microsoft.com/office/drawing/2014/main" id="{4B45DBE5-6279-4C2B-814E-92D91E32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4191000" cy="2286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100" b="1">
                <a:solidFill>
                  <a:srgbClr val="7A3FF2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THE MECHANISM</a:t>
            </a:r>
          </a:p>
        </p:txBody>
      </p:sp>
      <p:sp>
        <p:nvSpPr>
          <p:cNvPr id="325" name="Founder &amp; CEO">
            <a:extLst xmlns:a="http://schemas.openxmlformats.org/drawingml/2006/main">
              <a:ext uri="{FF2B5EF4-FFF2-40B4-BE49-F238E27FC236}">
                <a16:creationId xmlns:a16="http://schemas.microsoft.com/office/drawing/2014/main" id="{9EDF1B08-0273-4E3B-B82D-C31DA5A2A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4572000" cy="4000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96230" lnSpcReduction="0"/>
          </a:bodyPr>
          <a:lstStyle xmlns:a="http://schemas.openxmlformats.org/drawingml/2006/main">
            <a:lvl1pPr>
              <a:buNone/>
              <a:defRPr sz="23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Route locally. Escalate selectively.</a:t>
            </a:r>
          </a:p>
        </p:txBody>
      </p:sp>
      <p:sp>
        <p:nvSpPr>
          <p:cNvPr id="326" name="Built and sold enterprise software before. Now translating hands-on experience in AI infrastructure, governed workflows and autonomous research loops into a product real companies can adopt.">
            <a:extLst xmlns:a="http://schemas.openxmlformats.org/drawingml/2006/main">
              <a:ext uri="{FF2B5EF4-FFF2-40B4-BE49-F238E27FC236}">
                <a16:creationId xmlns:a16="http://schemas.microsoft.com/office/drawing/2014/main" id="{ACE2DB05-3BCA-4322-8CE7-B0BF2D09F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4762500" cy="147637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600">
                <a:solidFill>
                  <a:srgbClr val="5B647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AMOS qualifies each workflow, handles routine work on owned hardware, and escalates only the hard tail. Every escalation is receipted—and becomes a governed improvement signal.</a:t>
            </a:r>
          </a:p>
        </p:txBody>
      </p:sp>
      <p:sp>
        <p:nvSpPr>
          <p:cNvPr id="327" name="“The AI is the operator. AMOS is the governed layer it operates through.”">
            <a:extLst xmlns:a="http://schemas.openxmlformats.org/drawingml/2006/main">
              <a:ext uri="{FF2B5EF4-FFF2-40B4-BE49-F238E27FC236}">
                <a16:creationId xmlns:a16="http://schemas.microsoft.com/office/drawing/2014/main" id="{D4EC0398-915C-4320-8F96-E8588745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4857750" cy="6096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600" b="1" i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“The margin curve improves as the measured local share compounds.”</a:t>
            </a:r>
          </a:p>
        </p:txBody>
      </p:sp>
      <p:sp>
        <p:nvSpPr>
          <p:cNvPr id="328" name="GO-TO-MARKET">
            <a:extLst xmlns:a="http://schemas.openxmlformats.org/drawingml/2006/main">
              <a:ext uri="{FF2B5EF4-FFF2-40B4-BE49-F238E27FC236}">
                <a16:creationId xmlns:a16="http://schemas.microsoft.com/office/drawing/2014/main" id="{8926A532-8265-4F84-8EDF-9F3E7704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00250"/>
            <a:ext cx="4191000" cy="2286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100" b="1">
                <a:solidFill>
                  <a:srgbClr val="5B8DE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PROOF, NOT PROMISE</a:t>
            </a:r>
          </a:p>
        </p:txBody>
      </p:sp>
      <p:sp>
        <p:nvSpPr>
          <p:cNvPr id="329" name="SMB wedge + enterprise pull">
            <a:extLst xmlns:a="http://schemas.openxmlformats.org/drawingml/2006/main">
              <a:ext uri="{FF2B5EF4-FFF2-40B4-BE49-F238E27FC236}">
                <a16:creationId xmlns:a16="http://schemas.microsoft.com/office/drawing/2014/main" id="{8FE14973-D40E-441D-B581-56840CC1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00300"/>
            <a:ext cx="4762500" cy="4000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79622" lnSpcReduction="0"/>
          </a:bodyPr>
          <a:lstStyle xmlns:a="http://schemas.openxmlformats.org/drawingml/2006/main">
            <a:lvl1pPr>
              <a:buNone/>
              <a:defRPr sz="23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120B open intelligence on owned hardware</a:t>
            </a:r>
          </a:p>
        </p:txBody>
      </p:sp>
      <p:sp>
        <p:nvSpPr>
          <p:cNvPr id="330" name="01  Problem-led campaigns → live playground → signup">
            <a:extLst xmlns:a="http://schemas.openxmlformats.org/drawingml/2006/main">
              <a:ext uri="{FF2B5EF4-FFF2-40B4-BE49-F238E27FC236}">
                <a16:creationId xmlns:a16="http://schemas.microsoft.com/office/drawing/2014/main" id="{BC5BF8C3-8AD8-41E2-AE5B-DDDA20D4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05150"/>
            <a:ext cx="457200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81731" lnSpcReduction="0"/>
          </a:bodyPr>
          <a:lstStyle xmlns:a="http://schemas.openxmlformats.org/drawingml/2006/main">
            <a:lvl1pPr>
              <a:buNone/>
              <a:defRPr sz="13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01  Full GPT-OSS 120B runs on a 64 GB M1 Max—where stock full-Metal cannot.</a:t>
            </a:r>
          </a:p>
        </p:txBody>
      </p:sp>
      <p:sp>
        <p:nvSpPr>
          <p:cNvPr id="331" name="02  Founder-led sales into regulated and operationally complex companies">
            <a:extLst xmlns:a="http://schemas.openxmlformats.org/drawingml/2006/main">
              <a:ext uri="{FF2B5EF4-FFF2-40B4-BE49-F238E27FC236}">
                <a16:creationId xmlns:a16="http://schemas.microsoft.com/office/drawing/2014/main" id="{C8177C7A-652B-4644-B68C-972383926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76650"/>
            <a:ext cx="4572000" cy="552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5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02  Local and AWS controls passed the same hidden coding tests: 3/3.</a:t>
            </a:r>
          </a:p>
        </p:txBody>
      </p:sp>
      <p:sp>
        <p:nvSpPr>
          <p:cNvPr id="332" name="03  Builder/reseller path turns one vertical solution into many downstream accounts">
            <a:extLst xmlns:a="http://schemas.openxmlformats.org/drawingml/2006/main">
              <a:ext uri="{FF2B5EF4-FFF2-40B4-BE49-F238E27FC236}">
                <a16:creationId xmlns:a16="http://schemas.microsoft.com/office/drawing/2014/main" id="{D9CFB8CB-D091-4860-A974-63288287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76750"/>
            <a:ext cx="4572000" cy="552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5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03  Bit-exact async prefetch lifted coding-prompt prefill 70%.</a:t>
            </a:r>
          </a:p>
        </p:txBody>
      </p:sp>
      <p:sp>
        <p:nvSpPr>
          <p:cNvPr id="333" name="Austin + SF commercial ambition · Portugal engineering depth + EU/sovereign expansion">
            <a:extLst xmlns:a="http://schemas.openxmlformats.org/drawingml/2006/main">
              <a:ext uri="{FF2B5EF4-FFF2-40B4-BE49-F238E27FC236}">
                <a16:creationId xmlns:a16="http://schemas.microsoft.com/office/drawing/2014/main" id="{EC8CCD1B-4829-4246-8F87-E21544F6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295900"/>
            <a:ext cx="4572000" cy="5334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300" b="1">
                <a:solidFill>
                  <a:srgbClr val="26B47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Target: 80–90% local by workflow · frontier escalation stays governed and receipted</a:t>
            </a:r>
          </a:p>
        </p:txBody>
      </p:sp>
      <p:sp>
        <p:nvSpPr>
          <p:cNvPr id="334" name="AMOS LABS · CONFIDENTIAL">
            <a:extLst xmlns:a="http://schemas.openxmlformats.org/drawingml/2006/main">
              <a:ext uri="{FF2B5EF4-FFF2-40B4-BE49-F238E27FC236}">
                <a16:creationId xmlns:a16="http://schemas.microsoft.com/office/drawing/2014/main" id="{29ADEA97-A672-4AC1-871A-AF26CDBCA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4290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800" b="1">
                <a:solidFill>
                  <a:srgbClr val="7B849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AMOS LABS · CONFIDENTIAL</a:t>
            </a:r>
          </a:p>
        </p:txBody>
      </p:sp>
      <p:sp>
        <p:nvSpPr>
          <p:cNvPr id="335" name="13">
            <a:extLst xmlns:a="http://schemas.openxmlformats.org/drawingml/2006/main">
              <a:ext uri="{FF2B5EF4-FFF2-40B4-BE49-F238E27FC236}">
                <a16:creationId xmlns:a16="http://schemas.microsoft.com/office/drawing/2014/main" id="{E4DA4B90-2E1C-437C-BD2B-D57905DE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191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buNone/>
              <a:defRPr sz="800" b="1">
                <a:solidFill>
                  <a:srgbClr val="7B849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57544190"/>
      </p:ext>
    </p:extLst>
  </p:cSld>
</p:sld>
</file>

<file path=ppt/slides/slide8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0C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1" name="eyebrow">
            <a:extLst xmlns:a="http://schemas.openxmlformats.org/drawingml/2006/main">
              <a:ext uri="{FF2B5EF4-FFF2-40B4-BE49-F238E27FC236}">
                <a16:creationId xmlns:a16="http://schemas.microsoft.com/office/drawing/2014/main" id="{3C20E45D-1D50-4CB1-9120-EC0132A7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476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100" b="1">
                <a:solidFill>
                  <a:srgbClr val="5B8DE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GOVERNED AUTONOMY</a:t>
            </a:r>
          </a:p>
        </p:txBody>
      </p:sp>
      <p:sp>
        <p:nvSpPr>
          <p:cNvPr id="132" name="From “do this” to “pursue this goal.”">
            <a:extLst xmlns:a="http://schemas.openxmlformats.org/drawingml/2006/main">
              <a:ext uri="{FF2B5EF4-FFF2-40B4-BE49-F238E27FC236}">
                <a16:creationId xmlns:a16="http://schemas.microsoft.com/office/drawing/2014/main" id="{0134FC85-AA9C-4729-9D7B-3164467CD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9525000" cy="685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3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From “do this” to “pursue this goal.”</a:t>
            </a:r>
          </a:p>
        </p:txBody>
      </p:sp>
      <p:sp>
        <p:nvSpPr>
          <p:cNvPr id="133" name="AMOS can observe the business, propose experiments, park consequential work for approval, act within policy, measure the result and continue the loop.">
            <a:extLst xmlns:a="http://schemas.openxmlformats.org/drawingml/2006/main">
              <a:ext uri="{FF2B5EF4-FFF2-40B4-BE49-F238E27FC236}">
                <a16:creationId xmlns:a16="http://schemas.microsoft.com/office/drawing/2014/main" id="{B368916B-4035-450F-929E-1B10C8A1C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8572500" cy="7429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700">
                <a:solidFill>
                  <a:srgbClr val="C8D2E5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AMOS can observe the business, propose experiments, park consequential work for approval, act within policy, measure the result and continue the loop.</a:t>
            </a:r>
          </a:p>
        </p:txBody>
      </p:sp>
      <p:sp>
        <p:nvSpPr>
          <p:cNvPr id="134" name="Line">
            <a:extLst xmlns:a="http://schemas.openxmlformats.org/drawingml/2006/main">
              <a:ext uri="{FF2B5EF4-FFF2-40B4-BE49-F238E27FC236}">
                <a16:creationId xmlns:a16="http://schemas.microsoft.com/office/drawing/2014/main" id="{3FD3A705-AD72-4FF2-B2E7-F97C72420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62349"/>
            <a:ext cx="9620250" cy="9527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41506B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5" name="Circle">
            <a:extLst xmlns:a="http://schemas.openxmlformats.org/drawingml/2006/main">
              <a:ext uri="{FF2B5EF4-FFF2-40B4-BE49-F238E27FC236}">
                <a16:creationId xmlns:a16="http://schemas.microsoft.com/office/drawing/2014/main" id="{EEA27C41-802E-4E2A-9599-6AFD4E32E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528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DEF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6" name="Circle">
            <a:extLst xmlns:a="http://schemas.openxmlformats.org/drawingml/2006/main">
              <a:ext uri="{FF2B5EF4-FFF2-40B4-BE49-F238E27FC236}">
                <a16:creationId xmlns:a16="http://schemas.microsoft.com/office/drawing/2014/main" id="{338BB3DD-4383-49BD-A547-9BEC10170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528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3FF2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7" name="Circle">
            <a:extLst xmlns:a="http://schemas.openxmlformats.org/drawingml/2006/main">
              <a:ext uri="{FF2B5EF4-FFF2-40B4-BE49-F238E27FC236}">
                <a16:creationId xmlns:a16="http://schemas.microsoft.com/office/drawing/2014/main" id="{B38C7D33-6457-4467-AC26-FCB668FC1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3528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6C4F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8" name="Circle">
            <a:extLst xmlns:a="http://schemas.openxmlformats.org/drawingml/2006/main">
              <a:ext uri="{FF2B5EF4-FFF2-40B4-BE49-F238E27FC236}">
                <a16:creationId xmlns:a16="http://schemas.microsoft.com/office/drawing/2014/main" id="{12089E04-6147-4DD8-BA05-F2D82A00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3528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B47E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9" name="Circle">
            <a:extLst xmlns:a="http://schemas.openxmlformats.org/drawingml/2006/main">
              <a:ext uri="{FF2B5EF4-FFF2-40B4-BE49-F238E27FC236}">
                <a16:creationId xmlns:a16="http://schemas.microsoft.com/office/drawing/2014/main" id="{6E52C18A-007A-431A-868C-898287D2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528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DEF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0" name="Circle">
            <a:extLst xmlns:a="http://schemas.openxmlformats.org/drawingml/2006/main">
              <a:ext uri="{FF2B5EF4-FFF2-40B4-BE49-F238E27FC236}">
                <a16:creationId xmlns:a16="http://schemas.microsoft.com/office/drawing/2014/main" id="{7EED15B0-EE13-4C58-89D0-B51C7D38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3528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1" name="GOAL">
            <a:extLst xmlns:a="http://schemas.openxmlformats.org/drawingml/2006/main">
              <a:ext uri="{FF2B5EF4-FFF2-40B4-BE49-F238E27FC236}">
                <a16:creationId xmlns:a16="http://schemas.microsoft.com/office/drawing/2014/main" id="{00BAC1FE-21C5-47C1-B16E-E1A1C067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43350"/>
            <a:ext cx="952500" cy="2095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 sz="1000" b="1">
                <a:solidFill>
                  <a:srgbClr val="5B8DE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GOAL</a:t>
            </a:r>
          </a:p>
        </p:txBody>
      </p:sp>
      <p:sp>
        <p:nvSpPr>
          <p:cNvPr id="142" name="OBSERVE">
            <a:extLst xmlns:a="http://schemas.openxmlformats.org/drawingml/2006/main">
              <a:ext uri="{FF2B5EF4-FFF2-40B4-BE49-F238E27FC236}">
                <a16:creationId xmlns:a16="http://schemas.microsoft.com/office/drawing/2014/main" id="{03320A90-EC67-468B-A010-F245ADAC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943350"/>
            <a:ext cx="1143000" cy="2095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 sz="1000" b="1">
                <a:solidFill>
                  <a:srgbClr val="A987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OBSERVE</a:t>
            </a:r>
          </a:p>
        </p:txBody>
      </p:sp>
      <p:sp>
        <p:nvSpPr>
          <p:cNvPr id="143" name="PROPOSE">
            <a:extLst xmlns:a="http://schemas.openxmlformats.org/drawingml/2006/main">
              <a:ext uri="{FF2B5EF4-FFF2-40B4-BE49-F238E27FC236}">
                <a16:creationId xmlns:a16="http://schemas.microsoft.com/office/drawing/2014/main" id="{6F4D52F8-CCF6-4CF7-ACA5-9EA4B087D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943350"/>
            <a:ext cx="1143000" cy="2095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 sz="1000" b="1">
                <a:solidFill>
                  <a:srgbClr val="F36C4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PROPOSE</a:t>
            </a:r>
          </a:p>
        </p:txBody>
      </p:sp>
      <p:sp>
        <p:nvSpPr>
          <p:cNvPr id="144" name="APPROVE / ACT">
            <a:extLst xmlns:a="http://schemas.openxmlformats.org/drawingml/2006/main">
              <a:ext uri="{FF2B5EF4-FFF2-40B4-BE49-F238E27FC236}">
                <a16:creationId xmlns:a16="http://schemas.microsoft.com/office/drawing/2014/main" id="{718F25C3-EB41-43A4-B7CF-7121DE352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43350"/>
            <a:ext cx="1428750" cy="2095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 sz="1000" b="1">
                <a:solidFill>
                  <a:srgbClr val="26B47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APPROVE / ACT</a:t>
            </a:r>
          </a:p>
        </p:txBody>
      </p:sp>
      <p:sp>
        <p:nvSpPr>
          <p:cNvPr id="145" name="MEASURE">
            <a:extLst xmlns:a="http://schemas.openxmlformats.org/drawingml/2006/main">
              <a:ext uri="{FF2B5EF4-FFF2-40B4-BE49-F238E27FC236}">
                <a16:creationId xmlns:a16="http://schemas.microsoft.com/office/drawing/2014/main" id="{18B5D62B-ECC5-443A-BDC2-68C49F81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43350"/>
            <a:ext cx="1143000" cy="2095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 sz="1000" b="1">
                <a:solidFill>
                  <a:srgbClr val="5B8DE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MEASURE</a:t>
            </a:r>
          </a:p>
        </p:txBody>
      </p:sp>
      <p:sp>
        <p:nvSpPr>
          <p:cNvPr id="146" name="CONTINUE">
            <a:extLst xmlns:a="http://schemas.openxmlformats.org/drawingml/2006/main">
              <a:ext uri="{FF2B5EF4-FFF2-40B4-BE49-F238E27FC236}">
                <a16:creationId xmlns:a16="http://schemas.microsoft.com/office/drawing/2014/main" id="{79E84412-8336-4B5C-AD92-999FF87F7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943350"/>
            <a:ext cx="1143000" cy="2095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 sz="1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CONTINUE</a:t>
            </a:r>
          </a:p>
        </p:txBody>
      </p:sp>
      <p:sp>
        <p:nvSpPr>
          <p:cNvPr id="147" name="Rounded Rectangle">
            <a:extLst xmlns:a="http://schemas.openxmlformats.org/drawingml/2006/main">
              <a:ext uri="{FF2B5EF4-FFF2-40B4-BE49-F238E27FC236}">
                <a16:creationId xmlns:a16="http://schemas.microsoft.com/office/drawing/2014/main" id="{78675C93-93AE-44DF-8807-59FAE1A3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76800"/>
            <a:ext cx="104394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21D33"/>
          </a:solidFill>
          <a:ln xmlns:a="http://schemas.openxmlformats.org/drawingml/2006/main">
            <a:solidFill>
              <a:srgbClr val="2F3D5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8" name="Humans set goals, budgets and boundaries.">
            <a:extLst xmlns:a="http://schemas.openxmlformats.org/drawingml/2006/main">
              <a:ext uri="{FF2B5EF4-FFF2-40B4-BE49-F238E27FC236}">
                <a16:creationId xmlns:a16="http://schemas.microsoft.com/office/drawing/2014/main" id="{A3420F71-101A-4725-8700-CED1347A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086350"/>
            <a:ext cx="4476750" cy="285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Humans set goals, budgets and boundaries.</a:t>
            </a:r>
          </a:p>
        </p:txBody>
      </p:sp>
      <p:sp>
        <p:nvSpPr>
          <p:cNvPr id="149" name="Agency can tighten policy; it can never loosen it.">
            <a:extLst xmlns:a="http://schemas.openxmlformats.org/drawingml/2006/main">
              <a:ext uri="{FF2B5EF4-FFF2-40B4-BE49-F238E27FC236}">
                <a16:creationId xmlns:a16="http://schemas.microsoft.com/office/drawing/2014/main" id="{5B53DDBA-E9BE-4BFA-AF74-79DF9BF0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86350"/>
            <a:ext cx="4705350" cy="285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buNone/>
              <a:defRPr sz="1500" b="1">
                <a:solidFill>
                  <a:srgbClr val="26B47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Agency can tighten policy; it can never loosen it.</a:t>
            </a:r>
          </a:p>
        </p:txBody>
      </p:sp>
      <p:sp>
        <p:nvSpPr>
          <p:cNvPr id="150" name="AMOS LABS · CONFIDENTIAL">
            <a:extLst xmlns:a="http://schemas.openxmlformats.org/drawingml/2006/main">
              <a:ext uri="{FF2B5EF4-FFF2-40B4-BE49-F238E27FC236}">
                <a16:creationId xmlns:a16="http://schemas.microsoft.com/office/drawing/2014/main" id="{171B0CEB-29C7-4A12-A29F-EAD5426C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4290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800" b="1">
                <a:solidFill>
                  <a:srgbClr val="93A0B8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AMOS LABS · CONFIDENTIAL</a:t>
            </a:r>
          </a:p>
        </p:txBody>
      </p:sp>
      <p:sp>
        <p:nvSpPr>
          <p:cNvPr id="151" name="08">
            <a:extLst xmlns:a="http://schemas.openxmlformats.org/drawingml/2006/main">
              <a:ext uri="{FF2B5EF4-FFF2-40B4-BE49-F238E27FC236}">
                <a16:creationId xmlns:a16="http://schemas.microsoft.com/office/drawing/2014/main" id="{6C33F8E9-E8BE-43AD-9BD6-25C7FC88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191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buNone/>
              <a:defRPr sz="800" b="1">
                <a:solidFill>
                  <a:srgbClr val="93A0B8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21374824"/>
      </p:ext>
    </p:extLst>
  </p:cSld>
</p:sld>
</file>

<file path=ppt/slides/slide9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5" name="eyebrow">
            <a:extLst xmlns:a="http://schemas.openxmlformats.org/drawingml/2006/main">
              <a:ext uri="{FF2B5EF4-FFF2-40B4-BE49-F238E27FC236}">
                <a16:creationId xmlns:a16="http://schemas.microsoft.com/office/drawing/2014/main" id="{BB9BFD8F-7820-422B-8D2D-0EFD33958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476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100" b="1">
                <a:solidFill>
                  <a:srgbClr val="7A3FF2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MARKET ENTRY</a:t>
            </a:r>
          </a:p>
        </p:txBody>
      </p:sp>
      <p:sp>
        <p:nvSpPr>
          <p:cNvPr id="156" name="Land with one urgent workflow. Expand into the operating stack.">
            <a:extLst xmlns:a="http://schemas.openxmlformats.org/drawingml/2006/main">
              <a:ext uri="{FF2B5EF4-FFF2-40B4-BE49-F238E27FC236}">
                <a16:creationId xmlns:a16="http://schemas.microsoft.com/office/drawing/2014/main" id="{4983BF5D-FF76-4554-A680-05EDFBA56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287000" cy="6286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25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Land with one urgent workflow. Expand into the operating stack.</a:t>
            </a:r>
          </a:p>
        </p:txBody>
      </p:sp>
      <p:sp>
        <p:nvSpPr>
          <p:cNvPr id="157" name="SMB is the fast-adoption beachhead; the same governed primitives scale into mid-market and enterprise problems.">
            <a:extLst xmlns:a="http://schemas.openxmlformats.org/drawingml/2006/main">
              <a:ext uri="{FF2B5EF4-FFF2-40B4-BE49-F238E27FC236}">
                <a16:creationId xmlns:a16="http://schemas.microsoft.com/office/drawing/2014/main" id="{7400FBDE-2E7B-4D7C-B62C-2D68F51F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9334500" cy="5334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600">
                <a:solidFill>
                  <a:srgbClr val="5B647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Start with a bounded pilot. Prove the outcome, then expand across workflows and the network.</a:t>
            </a:r>
          </a:p>
        </p:txBody>
      </p:sp>
      <p:sp>
        <p:nvSpPr>
          <p:cNvPr id="158" name="Rounded Rectangle">
            <a:extLst xmlns:a="http://schemas.openxmlformats.org/drawingml/2006/main">
              <a:ext uri="{FF2B5EF4-FFF2-40B4-BE49-F238E27FC236}">
                <a16:creationId xmlns:a16="http://schemas.microsoft.com/office/drawing/2014/main" id="{4DAE030E-91BA-4319-83E6-C255071C8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2438400" cy="25908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9CFDA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59" name="Rounded Rectangle">
            <a:extLst xmlns:a="http://schemas.openxmlformats.org/drawingml/2006/main">
              <a:ext uri="{FF2B5EF4-FFF2-40B4-BE49-F238E27FC236}">
                <a16:creationId xmlns:a16="http://schemas.microsoft.com/office/drawing/2014/main" id="{D7865804-028E-4E68-B047-E2C53BDD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62200"/>
            <a:ext cx="2438400" cy="3162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DDE8FF"/>
          </a:solidFill>
          <a:ln xmlns:a="http://schemas.openxmlformats.org/drawingml/2006/main" w="19050">
            <a:solidFill>
              <a:srgbClr val="5B8DEF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60" name="Rounded Rectangle">
            <a:extLst xmlns:a="http://schemas.openxmlformats.org/drawingml/2006/main">
              <a:ext uri="{FF2B5EF4-FFF2-40B4-BE49-F238E27FC236}">
                <a16:creationId xmlns:a16="http://schemas.microsoft.com/office/drawing/2014/main" id="{9FBA0522-169F-4CB3-BA7E-8A2CDC65D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76450"/>
            <a:ext cx="2438400" cy="37338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9CFDA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61" name="Rounded Rectangle">
            <a:extLst xmlns:a="http://schemas.openxmlformats.org/drawingml/2006/main">
              <a:ext uri="{FF2B5EF4-FFF2-40B4-BE49-F238E27FC236}">
                <a16:creationId xmlns:a16="http://schemas.microsoft.com/office/drawing/2014/main" id="{05E1C328-7B8D-43ED-AAEF-4C7FA92B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790700"/>
            <a:ext cx="2438400" cy="4305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0C1424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62" name="01">
            <a:extLst xmlns:a="http://schemas.openxmlformats.org/drawingml/2006/main">
              <a:ext uri="{FF2B5EF4-FFF2-40B4-BE49-F238E27FC236}">
                <a16:creationId xmlns:a16="http://schemas.microsoft.com/office/drawing/2014/main" id="{F9DAC5E6-AB72-4BDD-9758-051ED2B0D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76550"/>
            <a:ext cx="514350" cy="2667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400" b="1">
                <a:solidFill>
                  <a:srgbClr val="7A3FF2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01</a:t>
            </a:r>
          </a:p>
        </p:txBody>
      </p:sp>
      <p:sp>
        <p:nvSpPr>
          <p:cNvPr id="163" name="Understand">
            <a:extLst xmlns:a="http://schemas.openxmlformats.org/drawingml/2006/main">
              <a:ext uri="{FF2B5EF4-FFF2-40B4-BE49-F238E27FC236}">
                <a16:creationId xmlns:a16="http://schemas.microsoft.com/office/drawing/2014/main" id="{E7757CD0-C416-4186-8E17-2E8E4FFD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180975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20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Understand</a:t>
            </a:r>
          </a:p>
        </p:txBody>
      </p:sp>
      <p:sp>
        <p:nvSpPr>
          <p:cNvPr id="164" name="Ask across finance, customers, documents and operations.">
            <a:extLst xmlns:a="http://schemas.openxmlformats.org/drawingml/2006/main">
              <a:ext uri="{FF2B5EF4-FFF2-40B4-BE49-F238E27FC236}">
                <a16:creationId xmlns:a16="http://schemas.microsoft.com/office/drawing/2014/main" id="{C4293841-D30A-4523-811B-B8AD59A9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1809750" cy="723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300">
                <a:solidFill>
                  <a:srgbClr val="5B647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Ask across finance, customers, documents and operations.</a:t>
            </a:r>
          </a:p>
        </p:txBody>
      </p:sp>
      <p:sp>
        <p:nvSpPr>
          <p:cNvPr id="165" name="02">
            <a:extLst xmlns:a="http://schemas.openxmlformats.org/drawingml/2006/main">
              <a:ext uri="{FF2B5EF4-FFF2-40B4-BE49-F238E27FC236}">
                <a16:creationId xmlns:a16="http://schemas.microsoft.com/office/drawing/2014/main" id="{AEA1D578-0D27-430D-A703-9285CDBF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90800"/>
            <a:ext cx="514350" cy="2667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400" b="1">
                <a:solidFill>
                  <a:srgbClr val="5B8DE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02</a:t>
            </a:r>
          </a:p>
        </p:txBody>
      </p:sp>
      <p:sp>
        <p:nvSpPr>
          <p:cNvPr id="166" name="Act">
            <a:extLst xmlns:a="http://schemas.openxmlformats.org/drawingml/2006/main">
              <a:ext uri="{FF2B5EF4-FFF2-40B4-BE49-F238E27FC236}">
                <a16:creationId xmlns:a16="http://schemas.microsoft.com/office/drawing/2014/main" id="{3DEA3946-52C0-4EC5-8CDA-EC1B9D2AB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009900"/>
            <a:ext cx="180975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20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Act</a:t>
            </a:r>
          </a:p>
        </p:txBody>
      </p:sp>
      <p:sp>
        <p:nvSpPr>
          <p:cNvPr id="167" name="Create campaigns, update systems and publish—with approval.">
            <a:extLst xmlns:a="http://schemas.openxmlformats.org/drawingml/2006/main">
              <a:ext uri="{FF2B5EF4-FFF2-40B4-BE49-F238E27FC236}">
                <a16:creationId xmlns:a16="http://schemas.microsoft.com/office/drawing/2014/main" id="{B5A84E74-721B-4AC1-B918-E063A0C9D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562350"/>
            <a:ext cx="1809750" cy="7810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300">
                <a:solidFill>
                  <a:srgbClr val="5B647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Create campaigns, update systems and publish—with approval.</a:t>
            </a:r>
          </a:p>
        </p:txBody>
      </p:sp>
      <p:sp>
        <p:nvSpPr>
          <p:cNvPr id="168" name="03">
            <a:extLst xmlns:a="http://schemas.openxmlformats.org/drawingml/2006/main">
              <a:ext uri="{FF2B5EF4-FFF2-40B4-BE49-F238E27FC236}">
                <a16:creationId xmlns:a16="http://schemas.microsoft.com/office/drawing/2014/main" id="{6D502A73-A5BF-42FB-A91D-F46EAF31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05050"/>
            <a:ext cx="514350" cy="2667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400" b="1">
                <a:solidFill>
                  <a:srgbClr val="F36C4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03</a:t>
            </a:r>
          </a:p>
        </p:txBody>
      </p:sp>
      <p:sp>
        <p:nvSpPr>
          <p:cNvPr id="169" name="Automate">
            <a:extLst xmlns:a="http://schemas.openxmlformats.org/drawingml/2006/main">
              <a:ext uri="{FF2B5EF4-FFF2-40B4-BE49-F238E27FC236}">
                <a16:creationId xmlns:a16="http://schemas.microsoft.com/office/drawing/2014/main" id="{3DD6F439-66B7-437F-B87E-A3624921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24150"/>
            <a:ext cx="180975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20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Automate</a:t>
            </a:r>
          </a:p>
        </p:txBody>
      </p:sp>
      <p:sp>
        <p:nvSpPr>
          <p:cNvPr id="170" name="Run governed workflows across existing systems and bespoke apps.">
            <a:extLst xmlns:a="http://schemas.openxmlformats.org/drawingml/2006/main">
              <a:ext uri="{FF2B5EF4-FFF2-40B4-BE49-F238E27FC236}">
                <a16:creationId xmlns:a16="http://schemas.microsoft.com/office/drawing/2014/main" id="{933D86D8-B644-471B-9CEE-B4415623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76600"/>
            <a:ext cx="1809750" cy="8191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200">
                <a:solidFill>
                  <a:srgbClr val="5B647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Run governed workflows across existing systems and bespoke apps.</a:t>
            </a:r>
          </a:p>
        </p:txBody>
      </p:sp>
      <p:sp>
        <p:nvSpPr>
          <p:cNvPr id="171" name="04">
            <a:extLst xmlns:a="http://schemas.openxmlformats.org/drawingml/2006/main">
              <a:ext uri="{FF2B5EF4-FFF2-40B4-BE49-F238E27FC236}">
                <a16:creationId xmlns:a16="http://schemas.microsoft.com/office/drawing/2014/main" id="{E4A4C3F5-7427-4195-8273-4FE63A32C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19300"/>
            <a:ext cx="514350" cy="2667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400" b="1">
                <a:solidFill>
                  <a:srgbClr val="26B47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04</a:t>
            </a:r>
          </a:p>
        </p:txBody>
      </p:sp>
      <p:sp>
        <p:nvSpPr>
          <p:cNvPr id="172" name="Own the layer">
            <a:extLst xmlns:a="http://schemas.openxmlformats.org/drawingml/2006/main">
              <a:ext uri="{FF2B5EF4-FFF2-40B4-BE49-F238E27FC236}">
                <a16:creationId xmlns:a16="http://schemas.microsoft.com/office/drawing/2014/main" id="{D21F0F42-002F-413D-9EC7-F7DD0B50F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38400"/>
            <a:ext cx="190500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2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Own the layer</a:t>
            </a:r>
          </a:p>
        </p:txBody>
      </p:sp>
      <p:sp>
        <p:nvSpPr>
          <p:cNvPr id="173" name="Company memory, policies, proof and learning remain portable across models.">
            <a:extLst xmlns:a="http://schemas.openxmlformats.org/drawingml/2006/main">
              <a:ext uri="{FF2B5EF4-FFF2-40B4-BE49-F238E27FC236}">
                <a16:creationId xmlns:a16="http://schemas.microsoft.com/office/drawing/2014/main" id="{BF4B3743-F6B3-42F8-9061-F99CEC3BD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90850"/>
            <a:ext cx="1809750" cy="100012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200">
                <a:solidFill>
                  <a:srgbClr val="C8D2E5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Company memory, policies, proof and learning remain portable across models.</a:t>
            </a:r>
          </a:p>
        </p:txBody>
      </p:sp>
      <p:sp>
        <p:nvSpPr>
          <p:cNvPr id="174" name="SMB → MID-MARKET → ENTERPRISE">
            <a:extLst xmlns:a="http://schemas.openxmlformats.org/drawingml/2006/main">
              <a:ext uri="{FF2B5EF4-FFF2-40B4-BE49-F238E27FC236}">
                <a16:creationId xmlns:a16="http://schemas.microsoft.com/office/drawing/2014/main" id="{8D501CC2-E25B-4CD4-8BFF-856A88A9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972050"/>
            <a:ext cx="1809750" cy="5905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200" b="1">
                <a:solidFill>
                  <a:srgbClr val="26B47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SMB → MID-MARKET → ENTERPRISE</a:t>
            </a:r>
          </a:p>
        </p:txBody>
      </p:sp>
      <p:sp>
        <p:nvSpPr>
          <p:cNvPr id="175" name="AMOS LABS · CONFIDENTIAL">
            <a:extLst xmlns:a="http://schemas.openxmlformats.org/drawingml/2006/main">
              <a:ext uri="{FF2B5EF4-FFF2-40B4-BE49-F238E27FC236}">
                <a16:creationId xmlns:a16="http://schemas.microsoft.com/office/drawing/2014/main" id="{DC7165C3-9F5E-4B8E-9BEE-B2FE7F65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4290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800" b="1">
                <a:solidFill>
                  <a:srgbClr val="7B849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AMOS LABS · CONFIDENTIAL</a:t>
            </a:r>
          </a:p>
        </p:txBody>
      </p:sp>
      <p:sp>
        <p:nvSpPr>
          <p:cNvPr id="176" name="09">
            <a:extLst xmlns:a="http://schemas.openxmlformats.org/drawingml/2006/main">
              <a:ext uri="{FF2B5EF4-FFF2-40B4-BE49-F238E27FC236}">
                <a16:creationId xmlns:a16="http://schemas.microsoft.com/office/drawing/2014/main" id="{5330EEEC-884F-445B-B600-26056AE3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191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buNone/>
              <a:defRPr sz="800" b="1">
                <a:solidFill>
                  <a:srgbClr val="7B849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60465271"/>
      </p:ext>
    </p:extLst>
  </p:cSld>
</p:sld>
</file>

<file path=ppt/slides/slide10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0" name="eyebrow">
            <a:extLst xmlns:a="http://schemas.openxmlformats.org/drawingml/2006/main">
              <a:ext uri="{FF2B5EF4-FFF2-40B4-BE49-F238E27FC236}">
                <a16:creationId xmlns:a16="http://schemas.microsoft.com/office/drawing/2014/main" id="{754D84A9-BBC7-4EB8-A972-80B54C96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476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100" b="1">
                <a:solidFill>
                  <a:srgbClr val="7A3FF2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MARKET OPPORTUNITY</a:t>
            </a:r>
          </a:p>
        </p:txBody>
      </p:sp>
      <p:sp>
        <p:nvSpPr>
          <p:cNvPr id="181" name="Land with one urgent workflow. Expand into the operating stack.">
            <a:extLst xmlns:a="http://schemas.openxmlformats.org/drawingml/2006/main">
              <a:ext uri="{FF2B5EF4-FFF2-40B4-BE49-F238E27FC236}">
                <a16:creationId xmlns:a16="http://schemas.microsoft.com/office/drawing/2014/main" id="{2E4052AF-4344-443B-835E-99399A32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287000" cy="6286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25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Beyond SaaS: building the backbone of the AI economy.</a:t>
            </a:r>
          </a:p>
        </p:txBody>
      </p:sp>
      <p:sp>
        <p:nvSpPr>
          <p:cNvPr id="182" name="SMB is the fast-adoption beachhead; the same governed primitives scale into mid-market and enterprise problems.">
            <a:extLst xmlns:a="http://schemas.openxmlformats.org/drawingml/2006/main">
              <a:ext uri="{FF2B5EF4-FFF2-40B4-BE49-F238E27FC236}">
                <a16:creationId xmlns:a16="http://schemas.microsoft.com/office/drawing/2014/main" id="{CAAEBEAB-0C76-4D62-BB5C-033F68978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9334500" cy="5334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600">
                <a:solidFill>
                  <a:srgbClr val="5B647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1M companies × $10K = $10B ARR—before infrastructure and marketplace upside.</a:t>
            </a:r>
          </a:p>
        </p:txBody>
      </p:sp>
      <p:sp>
        <p:nvSpPr>
          <p:cNvPr id="183" name="Rounded Rectangle">
            <a:extLst xmlns:a="http://schemas.openxmlformats.org/drawingml/2006/main">
              <a:ext uri="{FF2B5EF4-FFF2-40B4-BE49-F238E27FC236}">
                <a16:creationId xmlns:a16="http://schemas.microsoft.com/office/drawing/2014/main" id="{0C500132-9A52-46EC-A226-D0E3965B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2438400" cy="25908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9CFDA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84" name="Rounded Rectangle">
            <a:extLst xmlns:a="http://schemas.openxmlformats.org/drawingml/2006/main">
              <a:ext uri="{FF2B5EF4-FFF2-40B4-BE49-F238E27FC236}">
                <a16:creationId xmlns:a16="http://schemas.microsoft.com/office/drawing/2014/main" id="{F0999349-56B0-4627-B4D7-2FFA351FC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62200"/>
            <a:ext cx="2438400" cy="3162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DDE8FF"/>
          </a:solidFill>
          <a:ln xmlns:a="http://schemas.openxmlformats.org/drawingml/2006/main" w="19050">
            <a:solidFill>
              <a:srgbClr val="5B8DEF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85" name="Rounded Rectangle">
            <a:extLst xmlns:a="http://schemas.openxmlformats.org/drawingml/2006/main">
              <a:ext uri="{FF2B5EF4-FFF2-40B4-BE49-F238E27FC236}">
                <a16:creationId xmlns:a16="http://schemas.microsoft.com/office/drawing/2014/main" id="{534024AA-3EC2-454C-9C9B-69DD3972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76450"/>
            <a:ext cx="2438400" cy="37338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9CFDA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86" name="Rounded Rectangle">
            <a:extLst xmlns:a="http://schemas.openxmlformats.org/drawingml/2006/main">
              <a:ext uri="{FF2B5EF4-FFF2-40B4-BE49-F238E27FC236}">
                <a16:creationId xmlns:a16="http://schemas.microsoft.com/office/drawing/2014/main" id="{6B5F1D49-F1A2-4158-A888-F96D8206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790700"/>
            <a:ext cx="2438400" cy="4305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0C1424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87" name="01">
            <a:extLst xmlns:a="http://schemas.openxmlformats.org/drawingml/2006/main">
              <a:ext uri="{FF2B5EF4-FFF2-40B4-BE49-F238E27FC236}">
                <a16:creationId xmlns:a16="http://schemas.microsoft.com/office/drawing/2014/main" id="{027F889D-EF39-4FBB-A75B-B8746D7CF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76550"/>
            <a:ext cx="514350" cy="2667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400" b="1">
                <a:solidFill>
                  <a:srgbClr val="7A3FF2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01</a:t>
            </a:r>
          </a:p>
        </p:txBody>
      </p:sp>
      <p:sp>
        <p:nvSpPr>
          <p:cNvPr id="188" name="Understand">
            <a:extLst xmlns:a="http://schemas.openxmlformats.org/drawingml/2006/main">
              <a:ext uri="{FF2B5EF4-FFF2-40B4-BE49-F238E27FC236}">
                <a16:creationId xmlns:a16="http://schemas.microsoft.com/office/drawing/2014/main" id="{D65A01F8-0393-4852-B026-ED73A407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180975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9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Operating layer</a:t>
            </a:r>
          </a:p>
        </p:txBody>
      </p:sp>
      <p:sp>
        <p:nvSpPr>
          <p:cNvPr id="189" name="Ask across finance, customers, documents and operations.">
            <a:extLst xmlns:a="http://schemas.openxmlformats.org/drawingml/2006/main">
              <a:ext uri="{FF2B5EF4-FFF2-40B4-BE49-F238E27FC236}">
                <a16:creationId xmlns:a16="http://schemas.microsoft.com/office/drawing/2014/main" id="{699D0BE6-FDB8-4932-A728-E6070740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1809750" cy="723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200">
                <a:solidFill>
                  <a:srgbClr val="5B647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70M+ U.S. + European SMBs; governed memory, actions and proof.</a:t>
            </a:r>
          </a:p>
        </p:txBody>
      </p:sp>
      <p:sp>
        <p:nvSpPr>
          <p:cNvPr id="190" name="02">
            <a:extLst xmlns:a="http://schemas.openxmlformats.org/drawingml/2006/main">
              <a:ext uri="{FF2B5EF4-FFF2-40B4-BE49-F238E27FC236}">
                <a16:creationId xmlns:a16="http://schemas.microsoft.com/office/drawing/2014/main" id="{CF1ADE22-FF03-4A24-8E28-A7204BE7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90800"/>
            <a:ext cx="514350" cy="2667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400" b="1">
                <a:solidFill>
                  <a:srgbClr val="5B8DE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02</a:t>
            </a:r>
          </a:p>
        </p:txBody>
      </p:sp>
      <p:sp>
        <p:nvSpPr>
          <p:cNvPr id="191" name="Act">
            <a:extLst xmlns:a="http://schemas.openxmlformats.org/drawingml/2006/main">
              <a:ext uri="{FF2B5EF4-FFF2-40B4-BE49-F238E27FC236}">
                <a16:creationId xmlns:a16="http://schemas.microsoft.com/office/drawing/2014/main" id="{A12E0E71-BF6F-432B-92CC-75801E639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009900"/>
            <a:ext cx="180975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4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Smart infrastructure</a:t>
            </a:r>
          </a:p>
        </p:txBody>
      </p:sp>
      <p:sp>
        <p:nvSpPr>
          <p:cNvPr id="192" name="Create campaigns, update systems and publish—with approval.">
            <a:extLst xmlns:a="http://schemas.openxmlformats.org/drawingml/2006/main">
              <a:ext uri="{FF2B5EF4-FFF2-40B4-BE49-F238E27FC236}">
                <a16:creationId xmlns:a16="http://schemas.microsoft.com/office/drawing/2014/main" id="{4F853F90-3454-465D-A5F0-97DECA5C6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562350"/>
            <a:ext cx="1809750" cy="7810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200">
                <a:solidFill>
                  <a:srgbClr val="5B647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Govern cloud through MCP today; own compute + data centers when scale justifies it.</a:t>
            </a:r>
          </a:p>
        </p:txBody>
      </p:sp>
      <p:sp>
        <p:nvSpPr>
          <p:cNvPr id="193" name="03">
            <a:extLst xmlns:a="http://schemas.openxmlformats.org/drawingml/2006/main">
              <a:ext uri="{FF2B5EF4-FFF2-40B4-BE49-F238E27FC236}">
                <a16:creationId xmlns:a16="http://schemas.microsoft.com/office/drawing/2014/main" id="{C1029E48-FFE1-479B-A610-9D393C81D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05050"/>
            <a:ext cx="514350" cy="2667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400" b="1">
                <a:solidFill>
                  <a:srgbClr val="F36C4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03</a:t>
            </a:r>
          </a:p>
        </p:txBody>
      </p:sp>
      <p:sp>
        <p:nvSpPr>
          <p:cNvPr id="194" name="Automate">
            <a:extLst xmlns:a="http://schemas.openxmlformats.org/drawingml/2006/main">
              <a:ext uri="{FF2B5EF4-FFF2-40B4-BE49-F238E27FC236}">
                <a16:creationId xmlns:a16="http://schemas.microsoft.com/office/drawing/2014/main" id="{C2FD92E5-8720-4E6E-95CA-43E70DC8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24150"/>
            <a:ext cx="180975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9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AMOS Protocol</a:t>
            </a:r>
          </a:p>
        </p:txBody>
      </p:sp>
      <p:sp>
        <p:nvSpPr>
          <p:cNvPr id="195" name="Run governed workflows across existing systems and bespoke apps.">
            <a:extLst xmlns:a="http://schemas.openxmlformats.org/drawingml/2006/main">
              <a:ext uri="{FF2B5EF4-FFF2-40B4-BE49-F238E27FC236}">
                <a16:creationId xmlns:a16="http://schemas.microsoft.com/office/drawing/2014/main" id="{1C88817D-D3C7-4313-8FA6-547123901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76600"/>
            <a:ext cx="1809750" cy="8191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200">
                <a:solidFill>
                  <a:srgbClr val="5B647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Makes capabilities discoverable, governed and billable across agents.</a:t>
            </a:r>
          </a:p>
        </p:txBody>
      </p:sp>
      <p:sp>
        <p:nvSpPr>
          <p:cNvPr id="196" name="04">
            <a:extLst xmlns:a="http://schemas.openxmlformats.org/drawingml/2006/main">
              <a:ext uri="{FF2B5EF4-FFF2-40B4-BE49-F238E27FC236}">
                <a16:creationId xmlns:a16="http://schemas.microsoft.com/office/drawing/2014/main" id="{89203479-5D65-4462-B333-8E2E2390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19300"/>
            <a:ext cx="514350" cy="2667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400" b="1">
                <a:solidFill>
                  <a:srgbClr val="26B47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04</a:t>
            </a:r>
          </a:p>
        </p:txBody>
      </p:sp>
      <p:sp>
        <p:nvSpPr>
          <p:cNvPr id="197" name="Own the layer">
            <a:extLst xmlns:a="http://schemas.openxmlformats.org/drawingml/2006/main">
              <a:ext uri="{FF2B5EF4-FFF2-40B4-BE49-F238E27FC236}">
                <a16:creationId xmlns:a16="http://schemas.microsoft.com/office/drawing/2014/main" id="{1BF3DDDD-3331-49B5-AADF-B7FDDF96D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38400"/>
            <a:ext cx="190500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2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Marketplace</a:t>
            </a:r>
          </a:p>
        </p:txBody>
      </p:sp>
      <p:sp>
        <p:nvSpPr>
          <p:cNvPr id="198" name="Company memory, policies, proof and learning remain portable across models.">
            <a:extLst xmlns:a="http://schemas.openxmlformats.org/drawingml/2006/main">
              <a:ext uri="{FF2B5EF4-FFF2-40B4-BE49-F238E27FC236}">
                <a16:creationId xmlns:a16="http://schemas.microsoft.com/office/drawing/2014/main" id="{DB90E5EA-AE30-48CD-8D38-939C9FB07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90850"/>
            <a:ext cx="1809750" cy="100012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200">
                <a:solidFill>
                  <a:srgbClr val="C8D2E5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Builders sell connections, workflows, goal adapters and vertical apps.</a:t>
            </a:r>
          </a:p>
        </p:txBody>
      </p:sp>
      <p:sp>
        <p:nvSpPr>
          <p:cNvPr id="199" name="SMB → MID-MARKET → ENTERPRISE">
            <a:extLst xmlns:a="http://schemas.openxmlformats.org/drawingml/2006/main">
              <a:ext uri="{FF2B5EF4-FFF2-40B4-BE49-F238E27FC236}">
                <a16:creationId xmlns:a16="http://schemas.microsoft.com/office/drawing/2014/main" id="{BE36A47B-F1CD-4949-99E4-4B2F1E6C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972050"/>
            <a:ext cx="1809750" cy="5905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/>
          <a:p xmlns:a="http://schemas.openxmlformats.org/drawingml/2006/main">
            <a:pPr>
              <a:buNone/>
              <a:defRPr sz="1100" b="1">
                <a:solidFill>
                  <a:srgbClr val="26B47E"/>
                </a:solidFill>
                <a:latin typeface="Arial"/>
                <a:ea typeface="Arial"/>
                <a:cs typeface="Arial"/>
              </a:defRPr>
            </a:pPr>
            <a:r>
              <a:t>TAKE RATE + NETWORK</a:t>
            </a:r>
          </a:p>
          <a:p xmlns:a="http://schemas.openxmlformats.org/drawingml/2006/main">
            <a:pPr>
              <a:buNone/>
              <a:defRPr sz="1100" b="1">
                <a:solidFill>
                  <a:srgbClr val="26B47E"/>
                </a:solidFill>
                <a:latin typeface="Arial"/>
                <a:ea typeface="Arial"/>
                <a:cs typeface="Arial"/>
              </a:defRPr>
            </a:pPr>
            <a:r>
              <a:t>1.4% BASE PENETRATION</a:t>
            </a:r>
          </a:p>
        </p:txBody>
      </p:sp>
      <p:sp>
        <p:nvSpPr>
          <p:cNvPr id="200" name="AMOS LABS · CONFIDENTIAL">
            <a:extLst xmlns:a="http://schemas.openxmlformats.org/drawingml/2006/main">
              <a:ext uri="{FF2B5EF4-FFF2-40B4-BE49-F238E27FC236}">
                <a16:creationId xmlns:a16="http://schemas.microsoft.com/office/drawing/2014/main" id="{025034D4-B2F1-4DFB-8EE2-AEACA201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4290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800" b="1">
                <a:solidFill>
                  <a:srgbClr val="7B849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AMOS LABS · CONFIDENTIAL</a:t>
            </a:r>
          </a:p>
        </p:txBody>
      </p:sp>
      <p:sp>
        <p:nvSpPr>
          <p:cNvPr id="201" name="09">
            <a:extLst xmlns:a="http://schemas.openxmlformats.org/drawingml/2006/main">
              <a:ext uri="{FF2B5EF4-FFF2-40B4-BE49-F238E27FC236}">
                <a16:creationId xmlns:a16="http://schemas.microsoft.com/office/drawing/2014/main" id="{D6485995-1648-411B-AA7C-43C99D86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191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buNone/>
              <a:defRPr sz="800" b="1">
                <a:solidFill>
                  <a:srgbClr val="7B849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10</a:t>
            </a:r>
          </a:p>
        </p:txBody>
      </p:sp>
      <p:sp>
        <p:nvSpPr>
          <p:cNvPr id="202" name="tam-source">
            <a:extLst xmlns:a="http://schemas.openxmlformats.org/drawingml/2006/main">
              <a:ext uri="{FF2B5EF4-FFF2-40B4-BE49-F238E27FC236}">
                <a16:creationId xmlns:a16="http://schemas.microsoft.com/office/drawing/2014/main" id="{F4D46596-B4E1-46B2-98C3-6DFFD2D75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1970" y="6381751"/>
            <a:ext cx="6480812" cy="17742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 algn="r">
              <a:buNone/>
              <a:defRPr sz="700">
                <a:solidFill>
                  <a:srgbClr val="7B849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Sources: U.S. SBA (2026); European Commission (2026). Illustrative case; not a forecast.</a:t>
            </a:r>
          </a:p>
        </p:txBody>
      </p:sp>
    </p:spTree>
    <p:extLst>
      <p:ext uri="{BB962C8B-B14F-4D97-AF65-F5344CB8AC3E}">
        <p14:creationId xmlns:p14="http://schemas.microsoft.com/office/powerpoint/2010/main" val="401813964"/>
      </p:ext>
    </p:extLst>
  </p:cSld>
</p:sld>
</file>

<file path=ppt/slides/slide11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6" name="eyebrow">
            <a:extLst xmlns:a="http://schemas.openxmlformats.org/drawingml/2006/main">
              <a:ext uri="{FF2B5EF4-FFF2-40B4-BE49-F238E27FC236}">
                <a16:creationId xmlns:a16="http://schemas.microsoft.com/office/drawing/2014/main" id="{B28094EF-97E6-4FE7-B816-81A4B10B1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476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100" b="1">
                <a:solidFill>
                  <a:srgbClr val="7A3FF2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ALREADY RUNNING</a:t>
            </a:r>
          </a:p>
        </p:txBody>
      </p:sp>
      <p:sp>
        <p:nvSpPr>
          <p:cNvPr id="207" name="Live, deployed and being used before broad distribution.">
            <a:extLst xmlns:a="http://schemas.openxmlformats.org/drawingml/2006/main">
              <a:ext uri="{FF2B5EF4-FFF2-40B4-BE49-F238E27FC236}">
                <a16:creationId xmlns:a16="http://schemas.microsoft.com/office/drawing/2014/main" id="{4053B589-2D9A-4DA3-96C8-715277E2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287000" cy="6286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29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Live, deployed and being used before broad distribution.</a:t>
            </a:r>
          </a:p>
        </p:txBody>
      </p:sp>
      <p:sp>
        <p:nvSpPr>
          <p:cNvPr id="208" name="Public proof today">
            <a:extLst xmlns:a="http://schemas.openxmlformats.org/drawingml/2006/main">
              <a:ext uri="{FF2B5EF4-FFF2-40B4-BE49-F238E27FC236}">
                <a16:creationId xmlns:a16="http://schemas.microsoft.com/office/drawing/2014/main" id="{80F82DA9-F778-469F-968E-A94E90F80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3810000" cy="285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300" b="1">
                <a:solidFill>
                  <a:srgbClr val="5B647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Public proof today</a:t>
            </a:r>
          </a:p>
        </p:txBody>
      </p:sp>
      <p:sp>
        <p:nvSpPr>
          <p:cNvPr id="209" name="Rectangle">
            <a:extLst xmlns:a="http://schemas.openxmlformats.org/drawingml/2006/main">
              <a:ext uri="{FF2B5EF4-FFF2-40B4-BE49-F238E27FC236}">
                <a16:creationId xmlns:a16="http://schemas.microsoft.com/office/drawing/2014/main" id="{460A23B4-581D-42EA-92A6-C5CA1F2E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32766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0" name="Rectangle">
            <a:extLst xmlns:a="http://schemas.openxmlformats.org/drawingml/2006/main">
              <a:ext uri="{FF2B5EF4-FFF2-40B4-BE49-F238E27FC236}">
                <a16:creationId xmlns:a16="http://schemas.microsoft.com/office/drawing/2014/main" id="{29D1447C-4DC7-4EB2-A82A-75DCDA442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62200"/>
            <a:ext cx="32766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1" name="Rectangle">
            <a:extLst xmlns:a="http://schemas.openxmlformats.org/drawingml/2006/main">
              <a:ext uri="{FF2B5EF4-FFF2-40B4-BE49-F238E27FC236}">
                <a16:creationId xmlns:a16="http://schemas.microsoft.com/office/drawing/2014/main" id="{041A5AE0-A930-4199-88B3-BFCE11AEE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62200"/>
            <a:ext cx="32766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2" name="SMILEWISE">
            <a:extLst xmlns:a="http://schemas.openxmlformats.org/drawingml/2006/main">
              <a:ext uri="{FF2B5EF4-FFF2-40B4-BE49-F238E27FC236}">
                <a16:creationId xmlns:a16="http://schemas.microsoft.com/office/drawing/2014/main" id="{789308F2-D8F1-4771-BF66-3F51A9FC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2762250" cy="2286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100" b="1">
                <a:solidFill>
                  <a:srgbClr val="7A3FF2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SMILEWISE</a:t>
            </a:r>
          </a:p>
        </p:txBody>
      </p:sp>
      <p:sp>
        <p:nvSpPr>
          <p:cNvPr id="213" name="Dental SaaS">
            <a:extLst xmlns:a="http://schemas.openxmlformats.org/drawingml/2006/main">
              <a:ext uri="{FF2B5EF4-FFF2-40B4-BE49-F238E27FC236}">
                <a16:creationId xmlns:a16="http://schemas.microsoft.com/office/drawing/2014/main" id="{060732B7-C348-46CB-9B30-3987EDD1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276225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21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Dental SaaS</a:t>
            </a:r>
          </a:p>
        </p:txBody>
      </p:sp>
      <p:sp>
        <p:nvSpPr>
          <p:cNvPr id="214" name="Treatment-planning software using AMOS as a governed build-and-operations environment.">
            <a:extLst xmlns:a="http://schemas.openxmlformats.org/drawingml/2006/main">
              <a:ext uri="{FF2B5EF4-FFF2-40B4-BE49-F238E27FC236}">
                <a16:creationId xmlns:a16="http://schemas.microsoft.com/office/drawing/2014/main" id="{B65D60DC-ECC4-4415-B59F-2C7FF08B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0450"/>
            <a:ext cx="2762250" cy="7810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300">
                <a:solidFill>
                  <a:srgbClr val="5B647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Treatment-planning software using AMOS as a governed build-and-operations environment.</a:t>
            </a:r>
          </a:p>
        </p:txBody>
      </p:sp>
      <p:sp>
        <p:nvSpPr>
          <p:cNvPr id="215" name="NUVOLA ACADEMY">
            <a:extLst xmlns:a="http://schemas.openxmlformats.org/drawingml/2006/main">
              <a:ext uri="{FF2B5EF4-FFF2-40B4-BE49-F238E27FC236}">
                <a16:creationId xmlns:a16="http://schemas.microsoft.com/office/drawing/2014/main" id="{AF1049A3-BD33-43E9-9A65-1A5584C1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647950"/>
            <a:ext cx="2762250" cy="2286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100" b="1">
                <a:solidFill>
                  <a:srgbClr val="5B8DE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NUVOLA ACADEMY</a:t>
            </a:r>
          </a:p>
        </p:txBody>
      </p:sp>
      <p:sp>
        <p:nvSpPr>
          <p:cNvPr id="216" name="Compliance platform">
            <a:extLst xmlns:a="http://schemas.openxmlformats.org/drawingml/2006/main">
              <a:ext uri="{FF2B5EF4-FFF2-40B4-BE49-F238E27FC236}">
                <a16:creationId xmlns:a16="http://schemas.microsoft.com/office/drawing/2014/main" id="{9A32E45C-3097-475E-9517-6ECFBB3B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067050"/>
            <a:ext cx="276225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21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Compliance platform</a:t>
            </a:r>
          </a:p>
        </p:txBody>
      </p:sp>
      <p:sp>
        <p:nvSpPr>
          <p:cNvPr id="217" name="A profitable public-safety training product whose marketing and finance now run through AMOS.">
            <a:extLst xmlns:a="http://schemas.openxmlformats.org/drawingml/2006/main">
              <a:ext uri="{FF2B5EF4-FFF2-40B4-BE49-F238E27FC236}">
                <a16:creationId xmlns:a16="http://schemas.microsoft.com/office/drawing/2014/main" id="{7CA467EE-97BB-40D1-A9FD-8F103B01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600450"/>
            <a:ext cx="2762250" cy="7810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300">
                <a:solidFill>
                  <a:srgbClr val="5B647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 public-safety training product whose marketing and finance now run through AMOS.</a:t>
            </a:r>
          </a:p>
        </p:txBody>
      </p:sp>
      <p:sp>
        <p:nvSpPr>
          <p:cNvPr id="218" name="CHANNEL IN BUILD">
            <a:extLst xmlns:a="http://schemas.openxmlformats.org/drawingml/2006/main">
              <a:ext uri="{FF2B5EF4-FFF2-40B4-BE49-F238E27FC236}">
                <a16:creationId xmlns:a16="http://schemas.microsoft.com/office/drawing/2014/main" id="{5B73E9CD-C819-4940-A56E-EAD6FCC1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47950"/>
            <a:ext cx="2762250" cy="2286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100" b="1">
                <a:solidFill>
                  <a:srgbClr val="F36C4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PILOT STARTS NEXT WEEK</a:t>
            </a:r>
          </a:p>
        </p:txBody>
      </p:sp>
      <p:sp>
        <p:nvSpPr>
          <p:cNvPr id="219" name="Construction CRM">
            <a:extLst xmlns:a="http://schemas.openxmlformats.org/drawingml/2006/main">
              <a:ext uri="{FF2B5EF4-FFF2-40B4-BE49-F238E27FC236}">
                <a16:creationId xmlns:a16="http://schemas.microsoft.com/office/drawing/2014/main" id="{A77A26F9-4157-4A07-A79A-FAFFAE7F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67050"/>
            <a:ext cx="276225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21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Network operations</a:t>
            </a:r>
          </a:p>
        </p:txBody>
      </p:sp>
      <p:sp>
        <p:nvSpPr>
          <p:cNvPr id="220" name="Built with an independent launch partner and designed to resell into a network of similar firms.">
            <a:extLst xmlns:a="http://schemas.openxmlformats.org/drawingml/2006/main">
              <a:ext uri="{FF2B5EF4-FFF2-40B4-BE49-F238E27FC236}">
                <a16:creationId xmlns:a16="http://schemas.microsoft.com/office/drawing/2014/main" id="{C695A028-255E-4E9D-A14D-E26820DE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00450"/>
            <a:ext cx="2762250" cy="7810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300">
                <a:solidFill>
                  <a:srgbClr val="5B647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 local franchise pilot with a defined path to wider network rollout if the measured outcome is proven.</a:t>
            </a:r>
          </a:p>
        </p:txBody>
      </p:sp>
      <p:sp>
        <p:nvSpPr>
          <p:cNvPr id="221" name="Live playground">
            <a:extLst xmlns:a="http://schemas.openxmlformats.org/drawingml/2006/main">
              <a:ext uri="{FF2B5EF4-FFF2-40B4-BE49-F238E27FC236}">
                <a16:creationId xmlns:a16="http://schemas.microsoft.com/office/drawing/2014/main" id="{E26E27FA-0726-4C67-9CD7-9BB27FCA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905000" cy="2667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7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Live playground</a:t>
            </a:r>
          </a:p>
        </p:txBody>
      </p:sp>
      <p:sp>
        <p:nvSpPr>
          <p:cNvPr id="222" name="Real users + signups">
            <a:extLst xmlns:a="http://schemas.openxmlformats.org/drawingml/2006/main">
              <a:ext uri="{FF2B5EF4-FFF2-40B4-BE49-F238E27FC236}">
                <a16:creationId xmlns:a16="http://schemas.microsoft.com/office/drawing/2014/main" id="{ECA48D47-2435-4149-89B2-EABAC66F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219700"/>
            <a:ext cx="2190750" cy="2667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6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Real users + signups</a:t>
            </a:r>
          </a:p>
        </p:txBody>
      </p:sp>
      <p:sp>
        <p:nvSpPr>
          <p:cNvPr id="223" name="Paid acquisition live">
            <a:extLst xmlns:a="http://schemas.openxmlformats.org/drawingml/2006/main">
              <a:ext uri="{FF2B5EF4-FFF2-40B4-BE49-F238E27FC236}">
                <a16:creationId xmlns:a16="http://schemas.microsoft.com/office/drawing/2014/main" id="{AE1904C9-F862-4D05-ACC6-7F911234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219700"/>
            <a:ext cx="2286000" cy="2667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7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Paid acquisition live</a:t>
            </a:r>
          </a:p>
        </p:txBody>
      </p:sp>
      <p:sp>
        <p:nvSpPr>
          <p:cNvPr id="224" name="Enterprise conversations">
            <a:extLst xmlns:a="http://schemas.openxmlformats.org/drawingml/2006/main">
              <a:ext uri="{FF2B5EF4-FFF2-40B4-BE49-F238E27FC236}">
                <a16:creationId xmlns:a16="http://schemas.microsoft.com/office/drawing/2014/main" id="{3F5B59D2-68C9-42A7-A49A-A91558D7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219700"/>
            <a:ext cx="2457450" cy="2667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5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Enterprise pipeline active</a:t>
            </a:r>
          </a:p>
        </p:txBody>
      </p:sp>
      <p:sp>
        <p:nvSpPr>
          <p:cNvPr id="225" name="Line">
            <a:extLst xmlns:a="http://schemas.openxmlformats.org/drawingml/2006/main">
              <a:ext uri="{FF2B5EF4-FFF2-40B4-BE49-F238E27FC236}">
                <a16:creationId xmlns:a16="http://schemas.microsoft.com/office/drawing/2014/main" id="{4E567816-86C6-4CCF-A998-DCD470D96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97" y="5714999"/>
            <a:ext cx="10972805" cy="9527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9CFDA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6" name="AMOS LABS · CONFIDENTIAL">
            <a:extLst xmlns:a="http://schemas.openxmlformats.org/drawingml/2006/main">
              <a:ext uri="{FF2B5EF4-FFF2-40B4-BE49-F238E27FC236}">
                <a16:creationId xmlns:a16="http://schemas.microsoft.com/office/drawing/2014/main" id="{53C680DD-4667-40F6-B8DE-3B2F3192D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4290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800" b="1">
                <a:solidFill>
                  <a:srgbClr val="7B849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AMOS LABS · CONFIDENTIAL</a:t>
            </a:r>
          </a:p>
        </p:txBody>
      </p:sp>
      <p:sp>
        <p:nvSpPr>
          <p:cNvPr id="227" name="Source: amoslabs.com; founder-provided launch status">
            <a:extLst xmlns:a="http://schemas.openxmlformats.org/drawingml/2006/main">
              <a:ext uri="{FF2B5EF4-FFF2-40B4-BE49-F238E27FC236}">
                <a16:creationId xmlns:a16="http://schemas.microsoft.com/office/drawing/2014/main" id="{32DF268C-8B42-4F49-9839-BFE9A9103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381750"/>
            <a:ext cx="657225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buNone/>
              <a:defRPr sz="700">
                <a:solidFill>
                  <a:srgbClr val="7B849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Source: amoslabs.com; founder-provided launch status</a:t>
            </a:r>
          </a:p>
        </p:txBody>
      </p:sp>
      <p:sp>
        <p:nvSpPr>
          <p:cNvPr id="228" name="10">
            <a:extLst xmlns:a="http://schemas.openxmlformats.org/drawingml/2006/main">
              <a:ext uri="{FF2B5EF4-FFF2-40B4-BE49-F238E27FC236}">
                <a16:creationId xmlns:a16="http://schemas.microsoft.com/office/drawing/2014/main" id="{BCB4C8D3-59B7-4F87-B55E-4DDB2BB70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191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buNone/>
              <a:defRPr sz="800" b="1">
                <a:solidFill>
                  <a:srgbClr val="7B849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42006241"/>
      </p:ext>
    </p:extLst>
  </p:cSld>
</p:sld>
</file>

<file path=ppt/slides/slide12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2" name="eyebrow">
            <a:extLst xmlns:a="http://schemas.openxmlformats.org/drawingml/2006/main">
              <a:ext uri="{FF2B5EF4-FFF2-40B4-BE49-F238E27FC236}">
                <a16:creationId xmlns:a16="http://schemas.microsoft.com/office/drawing/2014/main" id="{4B56CF26-71BF-40F2-8708-9B2185B5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476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100" b="1">
                <a:solidFill>
                  <a:srgbClr val="7A3FF2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BUSINESS MODEL</a:t>
            </a:r>
          </a:p>
        </p:txBody>
      </p:sp>
      <p:sp>
        <p:nvSpPr>
          <p:cNvPr id="233" name="Revenue expands as AMOS becomes more of the operating stack.">
            <a:extLst xmlns:a="http://schemas.openxmlformats.org/drawingml/2006/main">
              <a:ext uri="{FF2B5EF4-FFF2-40B4-BE49-F238E27FC236}">
                <a16:creationId xmlns:a16="http://schemas.microsoft.com/office/drawing/2014/main" id="{2FFBB991-5BE4-48C3-9440-E1C3673A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287000" cy="6286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25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Revenue expands as AMOS becomes more of the operating stack.</a:t>
            </a:r>
          </a:p>
        </p:txBody>
      </p:sp>
      <p:sp>
        <p:nvSpPr>
          <p:cNvPr id="234" name="A recurring platform foundation, modular product expansion and metered infrastructure—all visible and attributable to the customer.">
            <a:extLst xmlns:a="http://schemas.openxmlformats.org/drawingml/2006/main">
              <a:ext uri="{FF2B5EF4-FFF2-40B4-BE49-F238E27FC236}">
                <a16:creationId xmlns:a16="http://schemas.microsoft.com/office/drawing/2014/main" id="{7F94ED15-780D-452D-B369-4CE18FF2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9620250" cy="5334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600">
                <a:solidFill>
                  <a:srgbClr val="5B647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 recurring platform foundation, modular product expansion and metered infrastructure—all visible and attributable to the customer.</a:t>
            </a:r>
          </a:p>
        </p:txBody>
      </p:sp>
      <p:sp>
        <p:nvSpPr>
          <p:cNvPr id="235" name="Rounded Rectangle">
            <a:extLst xmlns:a="http://schemas.openxmlformats.org/drawingml/2006/main">
              <a:ext uri="{FF2B5EF4-FFF2-40B4-BE49-F238E27FC236}">
                <a16:creationId xmlns:a16="http://schemas.microsoft.com/office/drawing/2014/main" id="{47DCA354-A53F-4205-8105-48077583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3276600" cy="2800350"/>
          </a:xfrm>
          <a:prstGeom xmlns:a="http://schemas.openxmlformats.org/drawingml/2006/main" prst="roundRect">
            <a:avLst>
              <a:gd name="adj" fmla="val 2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9CFDA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6" name="Rounded Rectangle">
            <a:extLst xmlns:a="http://schemas.openxmlformats.org/drawingml/2006/main">
              <a:ext uri="{FF2B5EF4-FFF2-40B4-BE49-F238E27FC236}">
                <a16:creationId xmlns:a16="http://schemas.microsoft.com/office/drawing/2014/main" id="{4A86B5AA-F421-44EE-9375-A522CCD8E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76600" cy="2800350"/>
          </a:xfrm>
          <a:prstGeom xmlns:a="http://schemas.openxmlformats.org/drawingml/2006/main" prst="roundRect">
            <a:avLst>
              <a:gd name="adj" fmla="val 2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9CFDA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7" name="Rounded Rectangle">
            <a:extLst xmlns:a="http://schemas.openxmlformats.org/drawingml/2006/main">
              <a:ext uri="{FF2B5EF4-FFF2-40B4-BE49-F238E27FC236}">
                <a16:creationId xmlns:a16="http://schemas.microsoft.com/office/drawing/2014/main" id="{40AF7AA8-8DC5-4758-97A5-50B8EDE7E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09850"/>
            <a:ext cx="3276600" cy="2800350"/>
          </a:xfrm>
          <a:prstGeom xmlns:a="http://schemas.openxmlformats.org/drawingml/2006/main" prst="roundRect">
            <a:avLst>
              <a:gd name="adj" fmla="val 2721"/>
            </a:avLst>
          </a:prstGeom>
          <a:solidFill xmlns:a="http://schemas.openxmlformats.org/drawingml/2006/main">
            <a:srgbClr val="0C1424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8" name="01">
            <a:extLst xmlns:a="http://schemas.openxmlformats.org/drawingml/2006/main">
              <a:ext uri="{FF2B5EF4-FFF2-40B4-BE49-F238E27FC236}">
                <a16:creationId xmlns:a16="http://schemas.microsoft.com/office/drawing/2014/main" id="{6EC0E3F9-D4FE-4028-A206-EB60E5027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457200" cy="2095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200" b="1">
                <a:solidFill>
                  <a:srgbClr val="7A3FF2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01</a:t>
            </a:r>
          </a:p>
        </p:txBody>
      </p:sp>
      <p:sp>
        <p:nvSpPr>
          <p:cNvPr id="239" name="Platform subscription">
            <a:extLst xmlns:a="http://schemas.openxmlformats.org/drawingml/2006/main">
              <a:ext uri="{FF2B5EF4-FFF2-40B4-BE49-F238E27FC236}">
                <a16:creationId xmlns:a16="http://schemas.microsoft.com/office/drawing/2014/main" id="{1CACC3E8-45B6-440E-B36C-04DD952B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266700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20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Platform subscription</a:t>
            </a:r>
          </a:p>
        </p:txBody>
      </p:sp>
      <p:sp>
        <p:nvSpPr>
          <p:cNvPr id="240" name="Company brain, governed actions, proof, finance and the MCP control plane.">
            <a:extLst xmlns:a="http://schemas.openxmlformats.org/drawingml/2006/main">
              <a:ext uri="{FF2B5EF4-FFF2-40B4-BE49-F238E27FC236}">
                <a16:creationId xmlns:a16="http://schemas.microsoft.com/office/drawing/2014/main" id="{4C8A90E8-F021-441A-BD24-61AE3ECD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86200"/>
            <a:ext cx="2571750" cy="8001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300">
                <a:solidFill>
                  <a:srgbClr val="5B647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Company brain, governed actions, proof, finance and the MCP control plane.</a:t>
            </a:r>
          </a:p>
        </p:txBody>
      </p:sp>
      <p:sp>
        <p:nvSpPr>
          <p:cNvPr id="241" name="LAND">
            <a:extLst xmlns:a="http://schemas.openxmlformats.org/drawingml/2006/main">
              <a:ext uri="{FF2B5EF4-FFF2-40B4-BE49-F238E27FC236}">
                <a16:creationId xmlns:a16="http://schemas.microsoft.com/office/drawing/2014/main" id="{25137E40-540D-47DD-9125-72376ADD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33950"/>
            <a:ext cx="1428750" cy="1905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000" b="1">
                <a:solidFill>
                  <a:srgbClr val="7A3FF2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LAND</a:t>
            </a:r>
          </a:p>
        </p:txBody>
      </p:sp>
      <p:sp>
        <p:nvSpPr>
          <p:cNvPr id="242" name="02">
            <a:extLst xmlns:a="http://schemas.openxmlformats.org/drawingml/2006/main">
              <a:ext uri="{FF2B5EF4-FFF2-40B4-BE49-F238E27FC236}">
                <a16:creationId xmlns:a16="http://schemas.microsoft.com/office/drawing/2014/main" id="{0B497B4B-73FE-4A37-AF80-4AB145162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76550"/>
            <a:ext cx="457200" cy="2095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200" b="1">
                <a:solidFill>
                  <a:srgbClr val="5B8DE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02</a:t>
            </a:r>
          </a:p>
        </p:txBody>
      </p:sp>
      <p:sp>
        <p:nvSpPr>
          <p:cNvPr id="243" name="Modular expansion">
            <a:extLst xmlns:a="http://schemas.openxmlformats.org/drawingml/2006/main">
              <a:ext uri="{FF2B5EF4-FFF2-40B4-BE49-F238E27FC236}">
                <a16:creationId xmlns:a16="http://schemas.microsoft.com/office/drawing/2014/main" id="{956780FD-B4DD-45FE-9033-06AA7C5C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314700"/>
            <a:ext cx="266700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20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Modular expansion</a:t>
            </a:r>
          </a:p>
        </p:txBody>
      </p:sp>
      <p:sp>
        <p:nvSpPr>
          <p:cNvPr id="244" name="Marketing + CRM, industry modules, bespoke apps and additional teams.">
            <a:extLst xmlns:a="http://schemas.openxmlformats.org/drawingml/2006/main">
              <a:ext uri="{FF2B5EF4-FFF2-40B4-BE49-F238E27FC236}">
                <a16:creationId xmlns:a16="http://schemas.microsoft.com/office/drawing/2014/main" id="{D4BCF2C2-2F7B-4889-BE29-263C80A0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886200"/>
            <a:ext cx="2571750" cy="8001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300">
                <a:solidFill>
                  <a:srgbClr val="5B647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Marketing + CRM, industry modules, bespoke apps and additional teams.</a:t>
            </a:r>
          </a:p>
        </p:txBody>
      </p:sp>
      <p:sp>
        <p:nvSpPr>
          <p:cNvPr id="245" name="EXPAND">
            <a:extLst xmlns:a="http://schemas.openxmlformats.org/drawingml/2006/main">
              <a:ext uri="{FF2B5EF4-FFF2-40B4-BE49-F238E27FC236}">
                <a16:creationId xmlns:a16="http://schemas.microsoft.com/office/drawing/2014/main" id="{33A62036-624E-454C-86ED-23326BF21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933950"/>
            <a:ext cx="1428750" cy="1905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000" b="1">
                <a:solidFill>
                  <a:srgbClr val="5B8DE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EXPAND</a:t>
            </a:r>
          </a:p>
        </p:txBody>
      </p:sp>
      <p:sp>
        <p:nvSpPr>
          <p:cNvPr id="246" name="03">
            <a:extLst xmlns:a="http://schemas.openxmlformats.org/drawingml/2006/main">
              <a:ext uri="{FF2B5EF4-FFF2-40B4-BE49-F238E27FC236}">
                <a16:creationId xmlns:a16="http://schemas.microsoft.com/office/drawing/2014/main" id="{0DDCD053-983D-4B51-B8AE-C5A78C283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76550"/>
            <a:ext cx="457200" cy="2095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200" b="1">
                <a:solidFill>
                  <a:srgbClr val="26B47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03</a:t>
            </a:r>
          </a:p>
        </p:txBody>
      </p:sp>
      <p:sp>
        <p:nvSpPr>
          <p:cNvPr id="247" name="Metered infrastructure">
            <a:extLst xmlns:a="http://schemas.openxmlformats.org/drawingml/2006/main">
              <a:ext uri="{FF2B5EF4-FFF2-40B4-BE49-F238E27FC236}">
                <a16:creationId xmlns:a16="http://schemas.microsoft.com/office/drawing/2014/main" id="{77F4387F-5985-49B5-B3EA-3E72B39F5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14700"/>
            <a:ext cx="266700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66843" lnSpcReduction="0"/>
          </a:bodyPr>
          <a:lstStyle xmlns:a="http://schemas.openxmlformats.org/drawingml/2006/main">
            <a:lvl1pPr>
              <a:buNone/>
              <a:defRPr sz="1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Metered + sovereign infrastructure</a:t>
            </a:r>
          </a:p>
        </p:txBody>
      </p:sp>
      <p:sp>
        <p:nvSpPr>
          <p:cNvPr id="248" name="Managed models, SES, compute and other cloud resources billed back with transparent usage.">
            <a:extLst xmlns:a="http://schemas.openxmlformats.org/drawingml/2006/main">
              <a:ext uri="{FF2B5EF4-FFF2-40B4-BE49-F238E27FC236}">
                <a16:creationId xmlns:a16="http://schemas.microsoft.com/office/drawing/2014/main" id="{B78681CA-C03A-4481-9FF6-9CF374A90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86200"/>
            <a:ext cx="2571750" cy="8001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300">
                <a:solidFill>
                  <a:srgbClr val="C8D2E5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Managed models, sovereign local intelligence pods, SES and compute—billed with transparent usage.</a:t>
            </a:r>
          </a:p>
        </p:txBody>
      </p:sp>
      <p:sp>
        <p:nvSpPr>
          <p:cNvPr id="249" name="SCALE">
            <a:extLst xmlns:a="http://schemas.openxmlformats.org/drawingml/2006/main">
              <a:ext uri="{FF2B5EF4-FFF2-40B4-BE49-F238E27FC236}">
                <a16:creationId xmlns:a16="http://schemas.microsoft.com/office/drawing/2014/main" id="{3AF8EE58-2809-44EC-9C71-529383ADE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33950"/>
            <a:ext cx="1428750" cy="1905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000" b="1">
                <a:solidFill>
                  <a:srgbClr val="26B47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SCALE</a:t>
            </a:r>
          </a:p>
        </p:txBody>
      </p:sp>
      <p:sp>
        <p:nvSpPr>
          <p:cNvPr id="250" name="AMOS LABS · CONFIDENTIAL">
            <a:extLst xmlns:a="http://schemas.openxmlformats.org/drawingml/2006/main">
              <a:ext uri="{FF2B5EF4-FFF2-40B4-BE49-F238E27FC236}">
                <a16:creationId xmlns:a16="http://schemas.microsoft.com/office/drawing/2014/main" id="{7E7967AB-F4EE-4A61-96AA-6660B8795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4290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800" b="1">
                <a:solidFill>
                  <a:srgbClr val="7B849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AMOS LABS · CONFIDENTIAL</a:t>
            </a:r>
          </a:p>
        </p:txBody>
      </p:sp>
      <p:sp>
        <p:nvSpPr>
          <p:cNvPr id="251" name="11">
            <a:extLst xmlns:a="http://schemas.openxmlformats.org/drawingml/2006/main">
              <a:ext uri="{FF2B5EF4-FFF2-40B4-BE49-F238E27FC236}">
                <a16:creationId xmlns:a16="http://schemas.microsoft.com/office/drawing/2014/main" id="{12FB1CA4-1886-4F87-BC50-45496B16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191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buNone/>
              <a:defRPr sz="800" b="1">
                <a:solidFill>
                  <a:srgbClr val="7B849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47004271"/>
      </p:ext>
    </p:extLst>
  </p:cSld>
</p:sld>
</file>

<file path=ppt/slides/slide13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5" name="eyebrow">
            <a:extLst xmlns:a="http://schemas.openxmlformats.org/drawingml/2006/main">
              <a:ext uri="{FF2B5EF4-FFF2-40B4-BE49-F238E27FC236}">
                <a16:creationId xmlns:a16="http://schemas.microsoft.com/office/drawing/2014/main" id="{34FCE4A7-75BB-4D91-87DB-36E01A59E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476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100" b="1">
                <a:solidFill>
                  <a:srgbClr val="7A3FF2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CAPITAL DEPLOYMENT</a:t>
            </a:r>
          </a:p>
        </p:txBody>
      </p:sp>
      <p:sp>
        <p:nvSpPr>
          <p:cNvPr id="256" name="Revenue expands as AMOS becomes more of the operating stack.">
            <a:extLst xmlns:a="http://schemas.openxmlformats.org/drawingml/2006/main">
              <a:ext uri="{FF2B5EF4-FFF2-40B4-BE49-F238E27FC236}">
                <a16:creationId xmlns:a16="http://schemas.microsoft.com/office/drawing/2014/main" id="{BE2B1446-9467-4457-A9E5-EEA5BBF4B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287000" cy="6286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25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$15–20M converts early pull into category speed.</a:t>
            </a:r>
          </a:p>
        </p:txBody>
      </p:sp>
      <p:sp>
        <p:nvSpPr>
          <p:cNvPr id="257" name="A recurring platform foundation, modular product expansion and metered infrastructure—all visible and attributable to the customer.">
            <a:extLst xmlns:a="http://schemas.openxmlformats.org/drawingml/2006/main">
              <a:ext uri="{FF2B5EF4-FFF2-40B4-BE49-F238E27FC236}">
                <a16:creationId xmlns:a16="http://schemas.microsoft.com/office/drawing/2014/main" id="{00DEBD52-FD1C-409E-9BB8-A4EE24B2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9620250" cy="5334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600">
                <a:solidFill>
                  <a:srgbClr val="5B647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At $17.5M, we can deepen the platform, deliver enterprise deployments, and build repeatable distribution in parallel.</a:t>
            </a:r>
          </a:p>
        </p:txBody>
      </p:sp>
      <p:sp>
        <p:nvSpPr>
          <p:cNvPr id="258" name="Rounded Rectangle">
            <a:extLst xmlns:a="http://schemas.openxmlformats.org/drawingml/2006/main">
              <a:ext uri="{FF2B5EF4-FFF2-40B4-BE49-F238E27FC236}">
                <a16:creationId xmlns:a16="http://schemas.microsoft.com/office/drawing/2014/main" id="{845B46FF-8E89-46F9-83C1-EA58F2BD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3276600" cy="2800350"/>
          </a:xfrm>
          <a:prstGeom xmlns:a="http://schemas.openxmlformats.org/drawingml/2006/main" prst="roundRect">
            <a:avLst>
              <a:gd name="adj" fmla="val 2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9CFDA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9" name="Rounded Rectangle">
            <a:extLst xmlns:a="http://schemas.openxmlformats.org/drawingml/2006/main">
              <a:ext uri="{FF2B5EF4-FFF2-40B4-BE49-F238E27FC236}">
                <a16:creationId xmlns:a16="http://schemas.microsoft.com/office/drawing/2014/main" id="{2E631573-88C9-48D7-A085-C152B7431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76600" cy="2800350"/>
          </a:xfrm>
          <a:prstGeom xmlns:a="http://schemas.openxmlformats.org/drawingml/2006/main" prst="roundRect">
            <a:avLst>
              <a:gd name="adj" fmla="val 2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9CFDA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0" name="Rounded Rectangle">
            <a:extLst xmlns:a="http://schemas.openxmlformats.org/drawingml/2006/main">
              <a:ext uri="{FF2B5EF4-FFF2-40B4-BE49-F238E27FC236}">
                <a16:creationId xmlns:a16="http://schemas.microsoft.com/office/drawing/2014/main" id="{2B0C07BF-3CA8-4422-B309-10889959B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09850"/>
            <a:ext cx="3276600" cy="2800350"/>
          </a:xfrm>
          <a:prstGeom xmlns:a="http://schemas.openxmlformats.org/drawingml/2006/main" prst="roundRect">
            <a:avLst>
              <a:gd name="adj" fmla="val 2721"/>
            </a:avLst>
          </a:prstGeom>
          <a:solidFill xmlns:a="http://schemas.openxmlformats.org/drawingml/2006/main">
            <a:srgbClr val="0C1424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1" name="01">
            <a:extLst xmlns:a="http://schemas.openxmlformats.org/drawingml/2006/main">
              <a:ext uri="{FF2B5EF4-FFF2-40B4-BE49-F238E27FC236}">
                <a16:creationId xmlns:a16="http://schemas.microsoft.com/office/drawing/2014/main" id="{DFBBCEAE-0020-49E9-8C30-7CE0A73E4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457200" cy="2095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200" b="1">
                <a:solidFill>
                  <a:srgbClr val="7A3FF2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01</a:t>
            </a:r>
          </a:p>
        </p:txBody>
      </p:sp>
      <p:sp>
        <p:nvSpPr>
          <p:cNvPr id="262" name="Platform subscription">
            <a:extLst xmlns:a="http://schemas.openxmlformats.org/drawingml/2006/main">
              <a:ext uri="{FF2B5EF4-FFF2-40B4-BE49-F238E27FC236}">
                <a16:creationId xmlns:a16="http://schemas.microsoft.com/office/drawing/2014/main" id="{644E0938-08CA-465A-933F-3A97D300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266700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20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Build + trust</a:t>
            </a:r>
          </a:p>
        </p:txBody>
      </p:sp>
      <p:sp>
        <p:nvSpPr>
          <p:cNvPr id="263" name="Company brain, governed actions, proof, finance and the MCP control plane.">
            <a:extLst xmlns:a="http://schemas.openxmlformats.org/drawingml/2006/main">
              <a:ext uri="{FF2B5EF4-FFF2-40B4-BE49-F238E27FC236}">
                <a16:creationId xmlns:a16="http://schemas.microsoft.com/office/drawing/2014/main" id="{18BF7129-3B5E-4E22-98ED-24D914D46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86200"/>
            <a:ext cx="2571750" cy="8001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t>Product + platform — $5.0M</a:t>
            </a:r>
          </a:p>
          <a:p xmlns:a="http://schemas.openxmlformats.org/drawingml/2006/main">
            <a:pPr>
              <a:buNone/>
              <a:defRPr sz="120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t>Security + compliance — $2.0M</a:t>
            </a:r>
          </a:p>
        </p:txBody>
      </p:sp>
      <p:sp>
        <p:nvSpPr>
          <p:cNvPr id="264" name="LAND">
            <a:extLst xmlns:a="http://schemas.openxmlformats.org/drawingml/2006/main">
              <a:ext uri="{FF2B5EF4-FFF2-40B4-BE49-F238E27FC236}">
                <a16:creationId xmlns:a16="http://schemas.microsoft.com/office/drawing/2014/main" id="{5AFCD947-EB94-4150-AA00-D8A93BEC7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33950"/>
            <a:ext cx="1428750" cy="1905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000" b="1">
                <a:solidFill>
                  <a:srgbClr val="7A3FF2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40% · $7.0M</a:t>
            </a:r>
          </a:p>
        </p:txBody>
      </p:sp>
      <p:sp>
        <p:nvSpPr>
          <p:cNvPr id="265" name="02">
            <a:extLst xmlns:a="http://schemas.openxmlformats.org/drawingml/2006/main">
              <a:ext uri="{FF2B5EF4-FFF2-40B4-BE49-F238E27FC236}">
                <a16:creationId xmlns:a16="http://schemas.microsoft.com/office/drawing/2014/main" id="{1767A69C-0E80-4015-B8F9-0A96CAC8D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76550"/>
            <a:ext cx="457200" cy="2095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200" b="1">
                <a:solidFill>
                  <a:srgbClr val="5B8DE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02</a:t>
            </a:r>
          </a:p>
        </p:txBody>
      </p:sp>
      <p:sp>
        <p:nvSpPr>
          <p:cNvPr id="266" name="Modular expansion">
            <a:extLst xmlns:a="http://schemas.openxmlformats.org/drawingml/2006/main">
              <a:ext uri="{FF2B5EF4-FFF2-40B4-BE49-F238E27FC236}">
                <a16:creationId xmlns:a16="http://schemas.microsoft.com/office/drawing/2014/main" id="{76D66070-6714-44AB-92A9-F6175145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314700"/>
            <a:ext cx="266700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20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Deploy + operate</a:t>
            </a:r>
          </a:p>
        </p:txBody>
      </p:sp>
      <p:sp>
        <p:nvSpPr>
          <p:cNvPr id="267" name="Marketing + CRM, industry modules, bespoke apps and additional teams.">
            <a:extLst xmlns:a="http://schemas.openxmlformats.org/drawingml/2006/main">
              <a:ext uri="{FF2B5EF4-FFF2-40B4-BE49-F238E27FC236}">
                <a16:creationId xmlns:a16="http://schemas.microsoft.com/office/drawing/2014/main" id="{CC8875E7-E762-46C6-89A0-8B9EA3D2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886200"/>
            <a:ext cx="2571750" cy="8001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t>FDE + customer success — $3.4M</a:t>
            </a:r>
          </a:p>
          <a:p xmlns:a="http://schemas.openxmlformats.org/drawingml/2006/main">
            <a:pPr>
              <a:buNone/>
              <a:defRPr sz="120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t>Enterprise onboarding — $1.0M</a:t>
            </a:r>
          </a:p>
        </p:txBody>
      </p:sp>
      <p:sp>
        <p:nvSpPr>
          <p:cNvPr id="268" name="EXPAND">
            <a:extLst xmlns:a="http://schemas.openxmlformats.org/drawingml/2006/main">
              <a:ext uri="{FF2B5EF4-FFF2-40B4-BE49-F238E27FC236}">
                <a16:creationId xmlns:a16="http://schemas.microsoft.com/office/drawing/2014/main" id="{E23B218B-C4EA-4C04-9AE6-F62561F54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933950"/>
            <a:ext cx="1428750" cy="1905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000" b="1">
                <a:solidFill>
                  <a:srgbClr val="5B8DE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25% · $4.4M</a:t>
            </a:r>
          </a:p>
        </p:txBody>
      </p:sp>
      <p:sp>
        <p:nvSpPr>
          <p:cNvPr id="269" name="03">
            <a:extLst xmlns:a="http://schemas.openxmlformats.org/drawingml/2006/main">
              <a:ext uri="{FF2B5EF4-FFF2-40B4-BE49-F238E27FC236}">
                <a16:creationId xmlns:a16="http://schemas.microsoft.com/office/drawing/2014/main" id="{54A4325E-52A1-48D3-B93A-E6DBB77EA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76550"/>
            <a:ext cx="457200" cy="2095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200" b="1">
                <a:solidFill>
                  <a:srgbClr val="26B47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03</a:t>
            </a:r>
          </a:p>
        </p:txBody>
      </p:sp>
      <p:sp>
        <p:nvSpPr>
          <p:cNvPr id="270" name="Metered infrastructure">
            <a:extLst xmlns:a="http://schemas.openxmlformats.org/drawingml/2006/main">
              <a:ext uri="{FF2B5EF4-FFF2-40B4-BE49-F238E27FC236}">
                <a16:creationId xmlns:a16="http://schemas.microsoft.com/office/drawing/2014/main" id="{05DA3E26-C96A-41F5-8B45-92D08973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14700"/>
            <a:ext cx="266700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Distribute + reserve</a:t>
            </a:r>
          </a:p>
        </p:txBody>
      </p:sp>
      <p:sp>
        <p:nvSpPr>
          <p:cNvPr id="271" name="Managed models, SES, compute and other cloud resources billed back with transparent usage.">
            <a:extLst xmlns:a="http://schemas.openxmlformats.org/drawingml/2006/main">
              <a:ext uri="{FF2B5EF4-FFF2-40B4-BE49-F238E27FC236}">
                <a16:creationId xmlns:a16="http://schemas.microsoft.com/office/drawing/2014/main" id="{DCBB795B-5324-4513-AD26-E7CAF7EB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86200"/>
            <a:ext cx="2571750" cy="8001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C8D2E5"/>
                </a:solidFill>
                <a:latin typeface="Arial"/>
                <a:ea typeface="Arial"/>
                <a:cs typeface="Arial"/>
              </a:defRPr>
            </a:pPr>
            <a:r>
              <a:t>GTM + partnerships — $4.1M</a:t>
            </a:r>
          </a:p>
          <a:p xmlns:a="http://schemas.openxmlformats.org/drawingml/2006/main">
            <a:pPr>
              <a:buNone/>
              <a:defRPr sz="1200">
                <a:solidFill>
                  <a:srgbClr val="C8D2E5"/>
                </a:solidFill>
                <a:latin typeface="Arial"/>
                <a:ea typeface="Arial"/>
                <a:cs typeface="Arial"/>
              </a:defRPr>
            </a:pPr>
            <a:r>
              <a:t>Local intelligence + compute — $2.0M</a:t>
            </a:r>
          </a:p>
        </p:txBody>
      </p:sp>
      <p:sp>
        <p:nvSpPr>
          <p:cNvPr id="272" name="SCALE">
            <a:extLst xmlns:a="http://schemas.openxmlformats.org/drawingml/2006/main">
              <a:ext uri="{FF2B5EF4-FFF2-40B4-BE49-F238E27FC236}">
                <a16:creationId xmlns:a16="http://schemas.microsoft.com/office/drawing/2014/main" id="{C297D709-47D1-47A7-BAA3-D2DAEDFA3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33950"/>
            <a:ext cx="1428750" cy="1905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000" b="1">
                <a:solidFill>
                  <a:srgbClr val="26B47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35% · $6.1M</a:t>
            </a:r>
          </a:p>
        </p:txBody>
      </p:sp>
      <p:sp>
        <p:nvSpPr>
          <p:cNvPr id="273" name="AMOS LABS · CONFIDENTIAL">
            <a:extLst xmlns:a="http://schemas.openxmlformats.org/drawingml/2006/main">
              <a:ext uri="{FF2B5EF4-FFF2-40B4-BE49-F238E27FC236}">
                <a16:creationId xmlns:a16="http://schemas.microsoft.com/office/drawing/2014/main" id="{79547E0F-BEBF-46A4-8BE5-C834A6D4D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4290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800" b="1">
                <a:solidFill>
                  <a:srgbClr val="7B849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AMOS LABS · CONFIDENTIAL</a:t>
            </a:r>
          </a:p>
        </p:txBody>
      </p:sp>
      <p:sp>
        <p:nvSpPr>
          <p:cNvPr id="274" name="11">
            <a:extLst xmlns:a="http://schemas.openxmlformats.org/drawingml/2006/main">
              <a:ext uri="{FF2B5EF4-FFF2-40B4-BE49-F238E27FC236}">
                <a16:creationId xmlns:a16="http://schemas.microsoft.com/office/drawing/2014/main" id="{47AC472B-26D7-4ABB-B70F-28E3B915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191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buNone/>
              <a:defRPr sz="800" b="1">
                <a:solidFill>
                  <a:srgbClr val="7B849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266543816"/>
      </p:ext>
    </p:extLst>
  </p:cSld>
</p:sld>
</file>

<file path=ppt/slides/slide14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8" name="eyebrow">
            <a:extLst xmlns:a="http://schemas.openxmlformats.org/drawingml/2006/main">
              <a:ext uri="{FF2B5EF4-FFF2-40B4-BE49-F238E27FC236}">
                <a16:creationId xmlns:a16="http://schemas.microsoft.com/office/drawing/2014/main" id="{952AA04F-2447-4189-898C-8AE150C68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476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100" b="1">
                <a:solidFill>
                  <a:srgbClr val="7A3FF2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COMPETITIVE POSITION</a:t>
            </a:r>
          </a:p>
        </p:txBody>
      </p:sp>
      <p:sp>
        <p:nvSpPr>
          <p:cNvPr id="279" name="Others provide pieces. AMOS owns the operating layer between AI and the company.">
            <a:extLst xmlns:a="http://schemas.openxmlformats.org/drawingml/2006/main">
              <a:ext uri="{FF2B5EF4-FFF2-40B4-BE49-F238E27FC236}">
                <a16:creationId xmlns:a16="http://schemas.microsoft.com/office/drawing/2014/main" id="{EA6B6F2D-0492-4EB1-8EFB-07F3F429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668000" cy="666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21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Others provide pieces. AMOS owns the operating layer between AI and the company.</a:t>
            </a:r>
          </a:p>
        </p:txBody>
      </p:sp>
      <p:sp>
        <p:nvSpPr>
          <p:cNvPr id="280" name="CATEGORY">
            <a:extLst xmlns:a="http://schemas.openxmlformats.org/drawingml/2006/main">
              <a:ext uri="{FF2B5EF4-FFF2-40B4-BE49-F238E27FC236}">
                <a16:creationId xmlns:a16="http://schemas.microsoft.com/office/drawing/2014/main" id="{364ECB7F-861E-47C2-97FF-21FC5109D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2571750" cy="2095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900" b="1">
                <a:solidFill>
                  <a:srgbClr val="5B647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CATEGORY</a:t>
            </a:r>
          </a:p>
        </p:txBody>
      </p:sp>
      <p:sp>
        <p:nvSpPr>
          <p:cNvPr id="281" name="CONTEXT">
            <a:extLst xmlns:a="http://schemas.openxmlformats.org/drawingml/2006/main">
              <a:ext uri="{FF2B5EF4-FFF2-40B4-BE49-F238E27FC236}">
                <a16:creationId xmlns:a16="http://schemas.microsoft.com/office/drawing/2014/main" id="{BFA8733B-5C96-460D-BEC4-A60B0C6B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924050"/>
            <a:ext cx="1047750" cy="2095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 sz="900" b="1">
                <a:solidFill>
                  <a:srgbClr val="5B647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CONTEXT</a:t>
            </a:r>
          </a:p>
        </p:txBody>
      </p:sp>
      <p:sp>
        <p:nvSpPr>
          <p:cNvPr id="282" name="ACTION">
            <a:extLst xmlns:a="http://schemas.openxmlformats.org/drawingml/2006/main">
              <a:ext uri="{FF2B5EF4-FFF2-40B4-BE49-F238E27FC236}">
                <a16:creationId xmlns:a16="http://schemas.microsoft.com/office/drawing/2014/main" id="{A22A0A1E-26F9-44A1-AA21-63340E239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924050"/>
            <a:ext cx="1047750" cy="2095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 sz="900" b="1">
                <a:solidFill>
                  <a:srgbClr val="5B647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ACTION</a:t>
            </a:r>
          </a:p>
        </p:txBody>
      </p:sp>
      <p:sp>
        <p:nvSpPr>
          <p:cNvPr id="283" name="GOVERNANCE">
            <a:extLst xmlns:a="http://schemas.openxmlformats.org/drawingml/2006/main">
              <a:ext uri="{FF2B5EF4-FFF2-40B4-BE49-F238E27FC236}">
                <a16:creationId xmlns:a16="http://schemas.microsoft.com/office/drawing/2014/main" id="{002C678A-39C0-4F51-8D24-184DF8AC0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924050"/>
            <a:ext cx="1047750" cy="2095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 sz="900" b="1">
                <a:solidFill>
                  <a:srgbClr val="5B647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GOVERNANCE</a:t>
            </a:r>
          </a:p>
        </p:txBody>
      </p:sp>
      <p:sp>
        <p:nvSpPr>
          <p:cNvPr id="284" name="PORTABLE">
            <a:extLst xmlns:a="http://schemas.openxmlformats.org/drawingml/2006/main">
              <a:ext uri="{FF2B5EF4-FFF2-40B4-BE49-F238E27FC236}">
                <a16:creationId xmlns:a16="http://schemas.microsoft.com/office/drawing/2014/main" id="{E91F2B0C-54E4-4F78-8F53-1E876B83C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924050"/>
            <a:ext cx="1047750" cy="2095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 sz="900" b="1">
                <a:solidFill>
                  <a:srgbClr val="5B647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PORTABLE</a:t>
            </a:r>
          </a:p>
        </p:txBody>
      </p:sp>
      <p:sp>
        <p:nvSpPr>
          <p:cNvPr id="285" name="LEARNS">
            <a:extLst xmlns:a="http://schemas.openxmlformats.org/drawingml/2006/main">
              <a:ext uri="{FF2B5EF4-FFF2-40B4-BE49-F238E27FC236}">
                <a16:creationId xmlns:a16="http://schemas.microsoft.com/office/drawing/2014/main" id="{9B93B7A8-1BE7-4AF0-B1C6-3D1EE5C7A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24050"/>
            <a:ext cx="1047750" cy="2095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 sz="900" b="1">
                <a:solidFill>
                  <a:srgbClr val="5B647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LEARNS</a:t>
            </a:r>
          </a:p>
        </p:txBody>
      </p:sp>
      <p:sp>
        <p:nvSpPr>
          <p:cNvPr id="286" name="Line">
            <a:extLst xmlns:a="http://schemas.openxmlformats.org/drawingml/2006/main">
              <a:ext uri="{FF2B5EF4-FFF2-40B4-BE49-F238E27FC236}">
                <a16:creationId xmlns:a16="http://schemas.microsoft.com/office/drawing/2014/main" id="{54356E9F-9BD3-4034-BA73-AA82D923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97" y="2266948"/>
            <a:ext cx="10953755" cy="9529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9CFDA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7" name="Chat assistants">
            <a:extLst xmlns:a="http://schemas.openxmlformats.org/drawingml/2006/main">
              <a:ext uri="{FF2B5EF4-FFF2-40B4-BE49-F238E27FC236}">
                <a16:creationId xmlns:a16="http://schemas.microsoft.com/office/drawing/2014/main" id="{84DB5043-4EFF-4B7C-A583-FC090214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2857500" cy="285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6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Chat assistants</a:t>
            </a:r>
          </a:p>
        </p:txBody>
      </p:sp>
      <p:sp>
        <p:nvSpPr>
          <p:cNvPr id="288" name="●">
            <a:extLst xmlns:a="http://schemas.openxmlformats.org/drawingml/2006/main">
              <a:ext uri="{FF2B5EF4-FFF2-40B4-BE49-F238E27FC236}">
                <a16:creationId xmlns:a16="http://schemas.microsoft.com/office/drawing/2014/main" id="{ABB6FEE8-DC68-41D3-BA2E-8245C0DD0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514600"/>
            <a:ext cx="38100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>
                <a:solidFill>
                  <a:srgbClr val="5B8DE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●</a:t>
            </a:r>
          </a:p>
        </p:txBody>
      </p:sp>
      <p:sp>
        <p:nvSpPr>
          <p:cNvPr id="289" name="○">
            <a:extLst xmlns:a="http://schemas.openxmlformats.org/drawingml/2006/main">
              <a:ext uri="{FF2B5EF4-FFF2-40B4-BE49-F238E27FC236}">
                <a16:creationId xmlns:a16="http://schemas.microsoft.com/office/drawing/2014/main" id="{D6FBF9E4-9F58-47E1-8715-79899CCA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14600"/>
            <a:ext cx="38100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>
                <a:solidFill>
                  <a:srgbClr val="C9CFDA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○</a:t>
            </a:r>
          </a:p>
        </p:txBody>
      </p:sp>
      <p:sp>
        <p:nvSpPr>
          <p:cNvPr id="290" name="○">
            <a:extLst xmlns:a="http://schemas.openxmlformats.org/drawingml/2006/main">
              <a:ext uri="{FF2B5EF4-FFF2-40B4-BE49-F238E27FC236}">
                <a16:creationId xmlns:a16="http://schemas.microsoft.com/office/drawing/2014/main" id="{5BF5972B-EF06-4699-AB6D-423968D6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14600"/>
            <a:ext cx="38100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>
                <a:solidFill>
                  <a:srgbClr val="C9CFDA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○</a:t>
            </a:r>
          </a:p>
        </p:txBody>
      </p:sp>
      <p:sp>
        <p:nvSpPr>
          <p:cNvPr id="291" name="●">
            <a:extLst xmlns:a="http://schemas.openxmlformats.org/drawingml/2006/main">
              <a:ext uri="{FF2B5EF4-FFF2-40B4-BE49-F238E27FC236}">
                <a16:creationId xmlns:a16="http://schemas.microsoft.com/office/drawing/2014/main" id="{476285E3-9A66-4B4F-B6E1-6EEDCE08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14600"/>
            <a:ext cx="38100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>
                <a:solidFill>
                  <a:srgbClr val="5B8DE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●</a:t>
            </a:r>
          </a:p>
        </p:txBody>
      </p:sp>
      <p:sp>
        <p:nvSpPr>
          <p:cNvPr id="292" name="○">
            <a:extLst xmlns:a="http://schemas.openxmlformats.org/drawingml/2006/main">
              <a:ext uri="{FF2B5EF4-FFF2-40B4-BE49-F238E27FC236}">
                <a16:creationId xmlns:a16="http://schemas.microsoft.com/office/drawing/2014/main" id="{1D57950B-7B96-41F0-8F51-BBD322A1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14600"/>
            <a:ext cx="38100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>
                <a:solidFill>
                  <a:srgbClr val="C9CFDA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○</a:t>
            </a:r>
          </a:p>
        </p:txBody>
      </p:sp>
      <p:sp>
        <p:nvSpPr>
          <p:cNvPr id="293" name="Line">
            <a:extLst xmlns:a="http://schemas.openxmlformats.org/drawingml/2006/main">
              <a:ext uri="{FF2B5EF4-FFF2-40B4-BE49-F238E27FC236}">
                <a16:creationId xmlns:a16="http://schemas.microsoft.com/office/drawing/2014/main" id="{D70AD91C-04AE-4B91-B26B-00961DF96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97" y="2990848"/>
            <a:ext cx="10953755" cy="9529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E4E7ED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4" name="Point automation">
            <a:extLst xmlns:a="http://schemas.openxmlformats.org/drawingml/2006/main">
              <a:ext uri="{FF2B5EF4-FFF2-40B4-BE49-F238E27FC236}">
                <a16:creationId xmlns:a16="http://schemas.microsoft.com/office/drawing/2014/main" id="{6E62222F-CD43-41F6-A79E-8D51C07C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2857500" cy="285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6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Point automation</a:t>
            </a:r>
          </a:p>
        </p:txBody>
      </p:sp>
      <p:sp>
        <p:nvSpPr>
          <p:cNvPr id="295" name="○">
            <a:extLst xmlns:a="http://schemas.openxmlformats.org/drawingml/2006/main">
              <a:ext uri="{FF2B5EF4-FFF2-40B4-BE49-F238E27FC236}">
                <a16:creationId xmlns:a16="http://schemas.microsoft.com/office/drawing/2014/main" id="{58DC5211-B718-4C9C-A66E-DDA4ABFB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00400"/>
            <a:ext cx="38100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>
                <a:solidFill>
                  <a:srgbClr val="C9CFDA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○</a:t>
            </a:r>
          </a:p>
        </p:txBody>
      </p:sp>
      <p:sp>
        <p:nvSpPr>
          <p:cNvPr id="296" name="●">
            <a:extLst xmlns:a="http://schemas.openxmlformats.org/drawingml/2006/main">
              <a:ext uri="{FF2B5EF4-FFF2-40B4-BE49-F238E27FC236}">
                <a16:creationId xmlns:a16="http://schemas.microsoft.com/office/drawing/2014/main" id="{7BC8E2A1-888D-4394-99AB-5B45EEC86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00400"/>
            <a:ext cx="38100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>
                <a:solidFill>
                  <a:srgbClr val="F36C4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●</a:t>
            </a:r>
          </a:p>
        </p:txBody>
      </p:sp>
      <p:sp>
        <p:nvSpPr>
          <p:cNvPr id="297" name="△">
            <a:extLst xmlns:a="http://schemas.openxmlformats.org/drawingml/2006/main">
              <a:ext uri="{FF2B5EF4-FFF2-40B4-BE49-F238E27FC236}">
                <a16:creationId xmlns:a16="http://schemas.microsoft.com/office/drawing/2014/main" id="{F8D1D4BB-8F90-458F-876D-6FAE710F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00400"/>
            <a:ext cx="38100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>
                <a:solidFill>
                  <a:srgbClr val="F36C4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△</a:t>
            </a:r>
          </a:p>
        </p:txBody>
      </p:sp>
      <p:sp>
        <p:nvSpPr>
          <p:cNvPr id="298" name="○">
            <a:extLst xmlns:a="http://schemas.openxmlformats.org/drawingml/2006/main">
              <a:ext uri="{FF2B5EF4-FFF2-40B4-BE49-F238E27FC236}">
                <a16:creationId xmlns:a16="http://schemas.microsoft.com/office/drawing/2014/main" id="{991EDA88-C87C-438A-8416-6F971E86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00400"/>
            <a:ext cx="38100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>
                <a:solidFill>
                  <a:srgbClr val="C9CFDA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○</a:t>
            </a:r>
          </a:p>
        </p:txBody>
      </p:sp>
      <p:sp>
        <p:nvSpPr>
          <p:cNvPr id="299" name="○">
            <a:extLst xmlns:a="http://schemas.openxmlformats.org/drawingml/2006/main">
              <a:ext uri="{FF2B5EF4-FFF2-40B4-BE49-F238E27FC236}">
                <a16:creationId xmlns:a16="http://schemas.microsoft.com/office/drawing/2014/main" id="{DE3A673D-F29C-49CE-BC0E-AD209069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00400"/>
            <a:ext cx="38100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>
                <a:solidFill>
                  <a:srgbClr val="C9CFDA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○</a:t>
            </a:r>
          </a:p>
        </p:txBody>
      </p:sp>
      <p:sp>
        <p:nvSpPr>
          <p:cNvPr id="300" name="Line">
            <a:extLst xmlns:a="http://schemas.openxmlformats.org/drawingml/2006/main">
              <a:ext uri="{FF2B5EF4-FFF2-40B4-BE49-F238E27FC236}">
                <a16:creationId xmlns:a16="http://schemas.microsoft.com/office/drawing/2014/main" id="{FB743778-33C5-4CF9-8461-2782EF164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97" y="3676648"/>
            <a:ext cx="10953755" cy="9529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E4E7ED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01" name="Enterprise data platforms">
            <a:extLst xmlns:a="http://schemas.openxmlformats.org/drawingml/2006/main">
              <a:ext uri="{FF2B5EF4-FFF2-40B4-BE49-F238E27FC236}">
                <a16:creationId xmlns:a16="http://schemas.microsoft.com/office/drawing/2014/main" id="{22DD0933-D7D5-4EAE-BC45-6B5F463FF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3143250" cy="285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6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Enterprise data platforms</a:t>
            </a:r>
          </a:p>
        </p:txBody>
      </p:sp>
      <p:sp>
        <p:nvSpPr>
          <p:cNvPr id="302" name="●">
            <a:extLst xmlns:a="http://schemas.openxmlformats.org/drawingml/2006/main">
              <a:ext uri="{FF2B5EF4-FFF2-40B4-BE49-F238E27FC236}">
                <a16:creationId xmlns:a16="http://schemas.microsoft.com/office/drawing/2014/main" id="{11A51C85-9FE2-40FB-8066-DD78E6C60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886200"/>
            <a:ext cx="38100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>
                <a:solidFill>
                  <a:srgbClr val="7A3FF2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●</a:t>
            </a:r>
          </a:p>
        </p:txBody>
      </p:sp>
      <p:sp>
        <p:nvSpPr>
          <p:cNvPr id="303" name="△">
            <a:extLst xmlns:a="http://schemas.openxmlformats.org/drawingml/2006/main">
              <a:ext uri="{FF2B5EF4-FFF2-40B4-BE49-F238E27FC236}">
                <a16:creationId xmlns:a16="http://schemas.microsoft.com/office/drawing/2014/main" id="{535A7F2C-5BE8-409A-AA18-81CD90EE7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886200"/>
            <a:ext cx="38100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>
                <a:solidFill>
                  <a:srgbClr val="7A3FF2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△</a:t>
            </a:r>
          </a:p>
        </p:txBody>
      </p:sp>
      <p:sp>
        <p:nvSpPr>
          <p:cNvPr id="304" name="●">
            <a:extLst xmlns:a="http://schemas.openxmlformats.org/drawingml/2006/main">
              <a:ext uri="{FF2B5EF4-FFF2-40B4-BE49-F238E27FC236}">
                <a16:creationId xmlns:a16="http://schemas.microsoft.com/office/drawing/2014/main" id="{EA3269C3-1A00-4572-9A3A-0A409E0B3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86200"/>
            <a:ext cx="38100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>
                <a:solidFill>
                  <a:srgbClr val="7A3FF2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●</a:t>
            </a:r>
          </a:p>
        </p:txBody>
      </p:sp>
      <p:sp>
        <p:nvSpPr>
          <p:cNvPr id="305" name="○">
            <a:extLst xmlns:a="http://schemas.openxmlformats.org/drawingml/2006/main">
              <a:ext uri="{FF2B5EF4-FFF2-40B4-BE49-F238E27FC236}">
                <a16:creationId xmlns:a16="http://schemas.microsoft.com/office/drawing/2014/main" id="{3DA44E5B-F313-4B1B-B196-D301B584F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86200"/>
            <a:ext cx="38100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>
                <a:solidFill>
                  <a:srgbClr val="C9CFDA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○</a:t>
            </a:r>
          </a:p>
        </p:txBody>
      </p:sp>
      <p:sp>
        <p:nvSpPr>
          <p:cNvPr id="306" name="△">
            <a:extLst xmlns:a="http://schemas.openxmlformats.org/drawingml/2006/main">
              <a:ext uri="{FF2B5EF4-FFF2-40B4-BE49-F238E27FC236}">
                <a16:creationId xmlns:a16="http://schemas.microsoft.com/office/drawing/2014/main" id="{9CE5627F-0CDB-4F7C-A733-2A5179D19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886200"/>
            <a:ext cx="38100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>
                <a:solidFill>
                  <a:srgbClr val="7A3FF2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△</a:t>
            </a:r>
          </a:p>
        </p:txBody>
      </p:sp>
      <p:sp>
        <p:nvSpPr>
          <p:cNvPr id="307" name="Line">
            <a:extLst xmlns:a="http://schemas.openxmlformats.org/drawingml/2006/main">
              <a:ext uri="{FF2B5EF4-FFF2-40B4-BE49-F238E27FC236}">
                <a16:creationId xmlns:a16="http://schemas.microsoft.com/office/drawing/2014/main" id="{06164040-F7EF-4810-B6F0-464D2C95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97" y="4362448"/>
            <a:ext cx="10953755" cy="9529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E4E7ED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08" name="Rounded Rectangle">
            <a:extLst xmlns:a="http://schemas.openxmlformats.org/drawingml/2006/main">
              <a:ext uri="{FF2B5EF4-FFF2-40B4-BE49-F238E27FC236}">
                <a16:creationId xmlns:a16="http://schemas.microsoft.com/office/drawing/2014/main" id="{A4BFFC64-ADF9-4B11-8A89-BF38C02E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33900"/>
            <a:ext cx="112014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C1424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09" name="AMOS">
            <a:extLst xmlns:a="http://schemas.openxmlformats.org/drawingml/2006/main">
              <a:ext uri="{FF2B5EF4-FFF2-40B4-BE49-F238E27FC236}">
                <a16:creationId xmlns:a16="http://schemas.microsoft.com/office/drawing/2014/main" id="{9A6D8562-BBA0-455D-A948-4530A8174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00600"/>
            <a:ext cx="285750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AMOS</a:t>
            </a:r>
          </a:p>
        </p:txBody>
      </p:sp>
      <p:sp>
        <p:nvSpPr>
          <p:cNvPr id="310" name="●">
            <a:extLst xmlns:a="http://schemas.openxmlformats.org/drawingml/2006/main">
              <a:ext uri="{FF2B5EF4-FFF2-40B4-BE49-F238E27FC236}">
                <a16:creationId xmlns:a16="http://schemas.microsoft.com/office/drawing/2014/main" id="{F6FF00A4-68FF-422E-A4A8-0239AF9A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62500"/>
            <a:ext cx="38100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>
                <a:solidFill>
                  <a:srgbClr val="26B47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●</a:t>
            </a:r>
          </a:p>
        </p:txBody>
      </p:sp>
      <p:sp>
        <p:nvSpPr>
          <p:cNvPr id="311" name="●">
            <a:extLst xmlns:a="http://schemas.openxmlformats.org/drawingml/2006/main">
              <a:ext uri="{FF2B5EF4-FFF2-40B4-BE49-F238E27FC236}">
                <a16:creationId xmlns:a16="http://schemas.microsoft.com/office/drawing/2014/main" id="{F4727C00-3714-4CFC-BF01-79B5BD07A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762500"/>
            <a:ext cx="38100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>
                <a:solidFill>
                  <a:srgbClr val="26B47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●</a:t>
            </a:r>
          </a:p>
        </p:txBody>
      </p:sp>
      <p:sp>
        <p:nvSpPr>
          <p:cNvPr id="312" name="●">
            <a:extLst xmlns:a="http://schemas.openxmlformats.org/drawingml/2006/main">
              <a:ext uri="{FF2B5EF4-FFF2-40B4-BE49-F238E27FC236}">
                <a16:creationId xmlns:a16="http://schemas.microsoft.com/office/drawing/2014/main" id="{62001D92-CA00-478E-BBCB-9E4809716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62500"/>
            <a:ext cx="38100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>
                <a:solidFill>
                  <a:srgbClr val="26B47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●</a:t>
            </a:r>
          </a:p>
        </p:txBody>
      </p:sp>
      <p:sp>
        <p:nvSpPr>
          <p:cNvPr id="313" name="●">
            <a:extLst xmlns:a="http://schemas.openxmlformats.org/drawingml/2006/main">
              <a:ext uri="{FF2B5EF4-FFF2-40B4-BE49-F238E27FC236}">
                <a16:creationId xmlns:a16="http://schemas.microsoft.com/office/drawing/2014/main" id="{87A394BD-18C4-4EB4-87F8-256DC8691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62500"/>
            <a:ext cx="38100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>
                <a:solidFill>
                  <a:srgbClr val="26B47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●</a:t>
            </a:r>
          </a:p>
        </p:txBody>
      </p:sp>
      <p:sp>
        <p:nvSpPr>
          <p:cNvPr id="314" name="●">
            <a:extLst xmlns:a="http://schemas.openxmlformats.org/drawingml/2006/main">
              <a:ext uri="{FF2B5EF4-FFF2-40B4-BE49-F238E27FC236}">
                <a16:creationId xmlns:a16="http://schemas.microsoft.com/office/drawing/2014/main" id="{07FD5037-CFC6-4E43-B967-8B63286FC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762500"/>
            <a:ext cx="38100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>
                <a:solidFill>
                  <a:srgbClr val="26B47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●</a:t>
            </a:r>
          </a:p>
        </p:txBody>
      </p:sp>
      <p:sp>
        <p:nvSpPr>
          <p:cNvPr id="315" name="● native  ·  △ partial  ·  ○ not the core product">
            <a:extLst xmlns:a="http://schemas.openxmlformats.org/drawingml/2006/main">
              <a:ext uri="{FF2B5EF4-FFF2-40B4-BE49-F238E27FC236}">
                <a16:creationId xmlns:a16="http://schemas.microsoft.com/office/drawing/2014/main" id="{1D1C21A8-F257-49E9-A2BB-B9D6D97B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4000500" cy="2095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900">
                <a:solidFill>
                  <a:srgbClr val="5B647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● native  ·  △ partial  ·  ○ not the core product</a:t>
            </a:r>
          </a:p>
        </p:txBody>
      </p:sp>
      <p:sp>
        <p:nvSpPr>
          <p:cNvPr id="316" name="AMOS LABS · CONFIDENTIAL">
            <a:extLst xmlns:a="http://schemas.openxmlformats.org/drawingml/2006/main">
              <a:ext uri="{FF2B5EF4-FFF2-40B4-BE49-F238E27FC236}">
                <a16:creationId xmlns:a16="http://schemas.microsoft.com/office/drawing/2014/main" id="{9E67F529-5970-4F64-B847-5618495B2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4290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800" b="1">
                <a:solidFill>
                  <a:srgbClr val="7B849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AMOS LABS · CONFIDENTIAL</a:t>
            </a:r>
          </a:p>
        </p:txBody>
      </p:sp>
      <p:sp>
        <p:nvSpPr>
          <p:cNvPr id="317" name="12">
            <a:extLst xmlns:a="http://schemas.openxmlformats.org/drawingml/2006/main">
              <a:ext uri="{FF2B5EF4-FFF2-40B4-BE49-F238E27FC236}">
                <a16:creationId xmlns:a16="http://schemas.microsoft.com/office/drawing/2014/main" id="{FFF7D0E5-649D-495A-B16C-FF97FBF60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191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buNone/>
              <a:defRPr sz="800" b="1">
                <a:solidFill>
                  <a:srgbClr val="7B849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14</a:t>
            </a:r>
          </a:p>
        </p:txBody>
      </p:sp>
      <p:sp>
        <p:nvSpPr>
          <p:cNvPr id="318" name="SOVEREIGN">
            <a:extLst xmlns:a="http://schemas.openxmlformats.org/drawingml/2006/main">
              <a:ext uri="{FF2B5EF4-FFF2-40B4-BE49-F238E27FC236}">
                <a16:creationId xmlns:a16="http://schemas.microsoft.com/office/drawing/2014/main" id="{C06AD62B-12AB-4FCC-91C6-BD8A51F5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9240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474"/>
                </a:solidFill>
                <a:latin typeface="Arial"/>
                <a:ea typeface="Arial"/>
                <a:cs typeface="Arial"/>
              </a:rPr>
              <a:t>SOVEREIGN</a:t>
            </a:r>
          </a:p>
        </p:txBody>
      </p:sp>
      <p:sp>
        <p:nvSpPr>
          <p:cNvPr id="319" name="Sovereign ○">
            <a:extLst xmlns:a="http://schemas.openxmlformats.org/drawingml/2006/main">
              <a:ext uri="{FF2B5EF4-FFF2-40B4-BE49-F238E27FC236}">
                <a16:creationId xmlns:a16="http://schemas.microsoft.com/office/drawing/2014/main" id="{468CBC5E-DDF5-4B9F-9B40-1420DB6FC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51460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5B8DE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8DEF"/>
                </a:solidFill>
                <a:latin typeface="Arial"/>
                <a:ea typeface="Arial"/>
                <a:cs typeface="Arial"/>
              </a:rPr>
              <a:t>○</a:t>
            </a:r>
          </a:p>
        </p:txBody>
      </p:sp>
      <p:sp>
        <p:nvSpPr>
          <p:cNvPr id="320" name="Sovereign ○">
            <a:extLst xmlns:a="http://schemas.openxmlformats.org/drawingml/2006/main">
              <a:ext uri="{FF2B5EF4-FFF2-40B4-BE49-F238E27FC236}">
                <a16:creationId xmlns:a16="http://schemas.microsoft.com/office/drawing/2014/main" id="{C2861F6F-1178-45CC-97D3-B389E31AA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20040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5B8DE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8DEF"/>
                </a:solidFill>
                <a:latin typeface="Arial"/>
                <a:ea typeface="Arial"/>
                <a:cs typeface="Arial"/>
              </a:rPr>
              <a:t>○</a:t>
            </a:r>
          </a:p>
        </p:txBody>
      </p:sp>
      <p:sp>
        <p:nvSpPr>
          <p:cNvPr id="321" name="Sovereign △">
            <a:extLst xmlns:a="http://schemas.openxmlformats.org/drawingml/2006/main">
              <a:ext uri="{FF2B5EF4-FFF2-40B4-BE49-F238E27FC236}">
                <a16:creationId xmlns:a16="http://schemas.microsoft.com/office/drawing/2014/main" id="{9B9C750D-4E74-48E2-BBCE-7F2B95A7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88620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5B8DE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8DEF"/>
                </a:solidFill>
                <a:latin typeface="Arial"/>
                <a:ea typeface="Arial"/>
                <a:cs typeface="Arial"/>
              </a:rPr>
              <a:t>△</a:t>
            </a:r>
          </a:p>
        </p:txBody>
      </p:sp>
      <p:sp>
        <p:nvSpPr>
          <p:cNvPr id="322" name="Sovereign ●">
            <a:extLst xmlns:a="http://schemas.openxmlformats.org/drawingml/2006/main">
              <a:ext uri="{FF2B5EF4-FFF2-40B4-BE49-F238E27FC236}">
                <a16:creationId xmlns:a16="http://schemas.microsoft.com/office/drawing/2014/main" id="{80557279-D9FE-43D5-902B-37C06345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76250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5B8DE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8DEF"/>
                </a:solidFill>
                <a:latin typeface="Arial"/>
                <a:ea typeface="Arial"/>
                <a:cs typeface="Arial"/>
              </a:rPr>
              <a:t>●</a:t>
            </a:r>
          </a:p>
        </p:txBody>
      </p:sp>
    </p:spTree>
    <p:extLst>
      <p:ext uri="{BB962C8B-B14F-4D97-AF65-F5344CB8AC3E}">
        <p14:creationId xmlns:p14="http://schemas.microsoft.com/office/powerpoint/2010/main" val="123324780"/>
      </p:ext>
    </p:extLst>
  </p:cSld>
</p:sld>
</file>

<file path=ppt/slides/slide15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1" name="eyebrow">
            <a:extLst xmlns:a="http://schemas.openxmlformats.org/drawingml/2006/main">
              <a:ext uri="{FF2B5EF4-FFF2-40B4-BE49-F238E27FC236}">
                <a16:creationId xmlns:a16="http://schemas.microsoft.com/office/drawing/2014/main" id="{631BAEB2-AD98-4F31-9826-AB52F824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476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100" b="1">
                <a:solidFill>
                  <a:srgbClr val="7A3FF2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WHY THIS TEAM, WHY THIS ROUTE</a:t>
            </a:r>
          </a:p>
        </p:txBody>
      </p:sp>
      <p:sp>
        <p:nvSpPr>
          <p:cNvPr id="322" name="Enterprise credibility. AI-native execution. Capital-efficient scale.">
            <a:extLst xmlns:a="http://schemas.openxmlformats.org/drawingml/2006/main">
              <a:ext uri="{FF2B5EF4-FFF2-40B4-BE49-F238E27FC236}">
                <a16:creationId xmlns:a16="http://schemas.microsoft.com/office/drawing/2014/main" id="{E4E7ADF4-A67B-4F45-BE18-14DB7CC1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668000" cy="6286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26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Enterprise credibility. AI-native execution. Capital-efficient scale.</a:t>
            </a:r>
          </a:p>
        </p:txBody>
      </p:sp>
      <p:sp>
        <p:nvSpPr>
          <p:cNvPr id="323" name="Line">
            <a:extLst xmlns:a="http://schemas.openxmlformats.org/drawingml/2006/main">
              <a:ext uri="{FF2B5EF4-FFF2-40B4-BE49-F238E27FC236}">
                <a16:creationId xmlns:a16="http://schemas.microsoft.com/office/drawing/2014/main" id="{FE00D001-E1AD-4D55-B838-938D226D2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995" y="1809750"/>
            <a:ext cx="9534" cy="37719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9CFDA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24" name="RICK BARKLEY">
            <a:extLst xmlns:a="http://schemas.openxmlformats.org/drawingml/2006/main">
              <a:ext uri="{FF2B5EF4-FFF2-40B4-BE49-F238E27FC236}">
                <a16:creationId xmlns:a16="http://schemas.microsoft.com/office/drawing/2014/main" id="{4B45DBE5-6279-4C2B-814E-92D91E32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4191000" cy="2286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100" b="1">
                <a:solidFill>
                  <a:srgbClr val="7A3FF2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RICK BARKLEY</a:t>
            </a:r>
          </a:p>
        </p:txBody>
      </p:sp>
      <p:sp>
        <p:nvSpPr>
          <p:cNvPr id="325" name="Founder &amp; CEO">
            <a:extLst xmlns:a="http://schemas.openxmlformats.org/drawingml/2006/main">
              <a:ext uri="{FF2B5EF4-FFF2-40B4-BE49-F238E27FC236}">
                <a16:creationId xmlns:a16="http://schemas.microsoft.com/office/drawing/2014/main" id="{9EDF1B08-0273-4E3B-B82D-C31DA5A2A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4572000" cy="4000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23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Founder &amp; CEO</a:t>
            </a:r>
          </a:p>
        </p:txBody>
      </p:sp>
      <p:sp>
        <p:nvSpPr>
          <p:cNvPr id="326" name="Built and sold enterprise software before. Now translating hands-on experience in AI infrastructure, governed workflows and autonomous research loops into a product real companies can adopt.">
            <a:extLst xmlns:a="http://schemas.openxmlformats.org/drawingml/2006/main">
              <a:ext uri="{FF2B5EF4-FFF2-40B4-BE49-F238E27FC236}">
                <a16:creationId xmlns:a16="http://schemas.microsoft.com/office/drawing/2014/main" id="{ACE2DB05-3BCA-4322-8CE7-B0BF2D09F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4762500" cy="147637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600">
                <a:solidFill>
                  <a:srgbClr val="5B647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Built and sold enterprise software before. Now translating hands-on experience in AI infrastructure, governed workflows and autonomous research loops into a product real companies can adopt.</a:t>
            </a:r>
          </a:p>
        </p:txBody>
      </p:sp>
      <p:sp>
        <p:nvSpPr>
          <p:cNvPr id="327" name="“The AI is the operator. AMOS is the governed layer it operates through.”">
            <a:extLst xmlns:a="http://schemas.openxmlformats.org/drawingml/2006/main">
              <a:ext uri="{FF2B5EF4-FFF2-40B4-BE49-F238E27FC236}">
                <a16:creationId xmlns:a16="http://schemas.microsoft.com/office/drawing/2014/main" id="{D4EC0398-915C-4320-8F96-E8588745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4857750" cy="6096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600" b="1" i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“The AI is the operator. AMOS is the governed layer it operates through.”</a:t>
            </a:r>
          </a:p>
        </p:txBody>
      </p:sp>
      <p:sp>
        <p:nvSpPr>
          <p:cNvPr id="328" name="GO-TO-MARKET">
            <a:extLst xmlns:a="http://schemas.openxmlformats.org/drawingml/2006/main">
              <a:ext uri="{FF2B5EF4-FFF2-40B4-BE49-F238E27FC236}">
                <a16:creationId xmlns:a16="http://schemas.microsoft.com/office/drawing/2014/main" id="{8926A532-8265-4F84-8EDF-9F3E7704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00250"/>
            <a:ext cx="4191000" cy="2286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100" b="1">
                <a:solidFill>
                  <a:srgbClr val="5B8DE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GO-TO-MARKET</a:t>
            </a:r>
          </a:p>
        </p:txBody>
      </p:sp>
      <p:sp>
        <p:nvSpPr>
          <p:cNvPr id="329" name="SMB wedge + enterprise pull">
            <a:extLst xmlns:a="http://schemas.openxmlformats.org/drawingml/2006/main">
              <a:ext uri="{FF2B5EF4-FFF2-40B4-BE49-F238E27FC236}">
                <a16:creationId xmlns:a16="http://schemas.microsoft.com/office/drawing/2014/main" id="{8FE14973-D40E-441D-B581-56840CC1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00300"/>
            <a:ext cx="4762500" cy="4000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23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SMB wedge + enterprise pull</a:t>
            </a:r>
          </a:p>
        </p:txBody>
      </p:sp>
      <p:sp>
        <p:nvSpPr>
          <p:cNvPr id="330" name="01  Problem-led campaigns → live playground → signup">
            <a:extLst xmlns:a="http://schemas.openxmlformats.org/drawingml/2006/main">
              <a:ext uri="{FF2B5EF4-FFF2-40B4-BE49-F238E27FC236}">
                <a16:creationId xmlns:a16="http://schemas.microsoft.com/office/drawing/2014/main" id="{BC5BF8C3-8AD8-41E2-AE5B-DDDA20D4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05150"/>
            <a:ext cx="457200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3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01  Problem-led campaigns → live playground → signup</a:t>
            </a:r>
          </a:p>
        </p:txBody>
      </p:sp>
      <p:sp>
        <p:nvSpPr>
          <p:cNvPr id="331" name="02  Founder-led sales into regulated and operationally complex companies">
            <a:extLst xmlns:a="http://schemas.openxmlformats.org/drawingml/2006/main">
              <a:ext uri="{FF2B5EF4-FFF2-40B4-BE49-F238E27FC236}">
                <a16:creationId xmlns:a16="http://schemas.microsoft.com/office/drawing/2014/main" id="{C8177C7A-652B-4644-B68C-972383926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76650"/>
            <a:ext cx="4572000" cy="552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5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02  Founder-led sales into regulated and operationally complex companies</a:t>
            </a:r>
          </a:p>
        </p:txBody>
      </p:sp>
      <p:sp>
        <p:nvSpPr>
          <p:cNvPr id="332" name="03  Builder/reseller path turns one vertical solution into many downstream accounts">
            <a:extLst xmlns:a="http://schemas.openxmlformats.org/drawingml/2006/main">
              <a:ext uri="{FF2B5EF4-FFF2-40B4-BE49-F238E27FC236}">
                <a16:creationId xmlns:a16="http://schemas.microsoft.com/office/drawing/2014/main" id="{D9CFB8CB-D091-4860-A974-63288287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76750"/>
            <a:ext cx="4572000" cy="552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5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03  Builder/reseller path turns one vertical solution into many downstream accounts</a:t>
            </a:r>
          </a:p>
        </p:txBody>
      </p:sp>
      <p:sp>
        <p:nvSpPr>
          <p:cNvPr id="333" name="Austin + SF commercial ambition · Portugal engineering depth + EU/sovereign expansion">
            <a:extLst xmlns:a="http://schemas.openxmlformats.org/drawingml/2006/main">
              <a:ext uri="{FF2B5EF4-FFF2-40B4-BE49-F238E27FC236}">
                <a16:creationId xmlns:a16="http://schemas.microsoft.com/office/drawing/2014/main" id="{EC8CCD1B-4829-4246-8F87-E21544F6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295900"/>
            <a:ext cx="4572000" cy="5334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300" b="1">
                <a:solidFill>
                  <a:srgbClr val="26B47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Engineering across SF · Austin · Lisbon | US HQ: Austin · European HQ + EU/sovereign expansion: Lisbon</a:t>
            </a:r>
          </a:p>
        </p:txBody>
      </p:sp>
      <p:sp>
        <p:nvSpPr>
          <p:cNvPr id="334" name="AMOS LABS · CONFIDENTIAL">
            <a:extLst xmlns:a="http://schemas.openxmlformats.org/drawingml/2006/main">
              <a:ext uri="{FF2B5EF4-FFF2-40B4-BE49-F238E27FC236}">
                <a16:creationId xmlns:a16="http://schemas.microsoft.com/office/drawing/2014/main" id="{29ADEA97-A672-4AC1-871A-AF26CDBCA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4290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800" b="1">
                <a:solidFill>
                  <a:srgbClr val="7B849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AMOS LABS · CONFIDENTIAL</a:t>
            </a:r>
          </a:p>
        </p:txBody>
      </p:sp>
      <p:sp>
        <p:nvSpPr>
          <p:cNvPr id="335" name="13">
            <a:extLst xmlns:a="http://schemas.openxmlformats.org/drawingml/2006/main">
              <a:ext uri="{FF2B5EF4-FFF2-40B4-BE49-F238E27FC236}">
                <a16:creationId xmlns:a16="http://schemas.microsoft.com/office/drawing/2014/main" id="{E4DA4B90-2E1C-437C-BD2B-D57905DE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191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buNone/>
              <a:defRPr sz="800" b="1">
                <a:solidFill>
                  <a:srgbClr val="7B849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857544190"/>
      </p:ext>
    </p:extLst>
  </p:cSld>
</p:sld>
</file>

<file path=ppt/slides/slide16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0C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54" name="image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7867818ed34e7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439723"/>
            <a:ext cx="2190750" cy="606459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340" name="Build the governed operating layer…">
            <a:extLst xmlns:a="http://schemas.openxmlformats.org/drawingml/2006/main">
              <a:ext uri="{FF2B5EF4-FFF2-40B4-BE49-F238E27FC236}">
                <a16:creationId xmlns:a16="http://schemas.microsoft.com/office/drawing/2014/main" id="{20F1F428-B0FC-4520-9DCD-87D2F4EF2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9715500" cy="1447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/>
          <a:p xmlns:a="http://schemas.openxmlformats.org/drawingml/2006/main">
            <a:pPr>
              <a:buNone/>
              <a:defRPr sz="4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The governed operating layer</a:t>
            </a:r>
          </a:p>
          <a:p xmlns:a="http://schemas.openxmlformats.org/drawingml/2006/main">
            <a:pPr>
              <a:buNone/>
              <a:defRPr sz="4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every company needs.</a:t>
            </a:r>
          </a:p>
        </p:txBody>
      </p:sp>
      <p:sp>
        <p:nvSpPr>
          <p:cNvPr id="341" name="Seeking a seed lead to scale product, distribution and enterprise readiness.">
            <a:extLst xmlns:a="http://schemas.openxmlformats.org/drawingml/2006/main">
              <a:ext uri="{FF2B5EF4-FFF2-40B4-BE49-F238E27FC236}">
                <a16:creationId xmlns:a16="http://schemas.microsoft.com/office/drawing/2014/main" id="{2F47786A-BB73-4281-BEE7-3BD167725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8858250" cy="4762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700">
                <a:solidFill>
                  <a:srgbClr val="C8D2E5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Raising $15–20M to turn early pull into the category-defining governed operating layer.</a:t>
            </a:r>
          </a:p>
        </p:txBody>
      </p:sp>
      <p:sp>
        <p:nvSpPr>
          <p:cNvPr id="342" name="Rounded Rectangle">
            <a:extLst xmlns:a="http://schemas.openxmlformats.org/drawingml/2006/main">
              <a:ext uri="{FF2B5EF4-FFF2-40B4-BE49-F238E27FC236}">
                <a16:creationId xmlns:a16="http://schemas.microsoft.com/office/drawing/2014/main" id="{91A96B9B-33C8-4CE7-AC38-07827540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31432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21D33"/>
          </a:solidFill>
          <a:ln xmlns:a="http://schemas.openxmlformats.org/drawingml/2006/main">
            <a:solidFill>
              <a:srgbClr val="34425E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43" name="Rounded Rectangle">
            <a:extLst xmlns:a="http://schemas.openxmlformats.org/drawingml/2006/main">
              <a:ext uri="{FF2B5EF4-FFF2-40B4-BE49-F238E27FC236}">
                <a16:creationId xmlns:a16="http://schemas.microsoft.com/office/drawing/2014/main" id="{B5D4ED07-E43B-43FE-A12C-CD79BD017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362450"/>
            <a:ext cx="31432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21D33"/>
          </a:solidFill>
          <a:ln xmlns:a="http://schemas.openxmlformats.org/drawingml/2006/main">
            <a:solidFill>
              <a:srgbClr val="34425E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44" name="Rounded Rectangle">
            <a:extLst xmlns:a="http://schemas.openxmlformats.org/drawingml/2006/main">
              <a:ext uri="{FF2B5EF4-FFF2-40B4-BE49-F238E27FC236}">
                <a16:creationId xmlns:a16="http://schemas.microsoft.com/office/drawing/2014/main" id="{BA06BEEB-0330-4B8E-A17C-41BAF9FB5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362450"/>
            <a:ext cx="40957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21D33"/>
          </a:solidFill>
          <a:ln xmlns:a="http://schemas.openxmlformats.org/drawingml/2006/main">
            <a:solidFill>
              <a:srgbClr val="34425E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45" name="PRODUCT">
            <a:extLst xmlns:a="http://schemas.openxmlformats.org/drawingml/2006/main">
              <a:ext uri="{FF2B5EF4-FFF2-40B4-BE49-F238E27FC236}">
                <a16:creationId xmlns:a16="http://schemas.microsoft.com/office/drawing/2014/main" id="{7004B58B-EEE9-4A12-871E-682D5FAF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0"/>
            <a:ext cx="1143000" cy="1905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900" b="1">
                <a:solidFill>
                  <a:srgbClr val="5B8DE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PRODUCT</a:t>
            </a:r>
          </a:p>
        </p:txBody>
      </p:sp>
      <p:sp>
        <p:nvSpPr>
          <p:cNvPr id="346" name="Harden autonomy + enterprise controls">
            <a:extLst xmlns:a="http://schemas.openxmlformats.org/drawingml/2006/main">
              <a:ext uri="{FF2B5EF4-FFF2-40B4-BE49-F238E27FC236}">
                <a16:creationId xmlns:a16="http://schemas.microsoft.com/office/drawing/2014/main" id="{9E3EBEA6-9C95-4F91-8648-A7C92103E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76800"/>
            <a:ext cx="2571750" cy="285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Harden product + enterprise trust</a:t>
            </a:r>
          </a:p>
        </p:txBody>
      </p:sp>
      <p:sp>
        <p:nvSpPr>
          <p:cNvPr id="347" name="DISTRIBUTION">
            <a:extLst xmlns:a="http://schemas.openxmlformats.org/drawingml/2006/main">
              <a:ext uri="{FF2B5EF4-FFF2-40B4-BE49-F238E27FC236}">
                <a16:creationId xmlns:a16="http://schemas.microsoft.com/office/drawing/2014/main" id="{8D2D1C36-D0DA-4D30-9851-5ECB56A4E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72000"/>
            <a:ext cx="1333500" cy="1905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900" b="1">
                <a:solidFill>
                  <a:srgbClr val="F36C4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DISTRIBUTION</a:t>
            </a:r>
          </a:p>
        </p:txBody>
      </p:sp>
      <p:sp>
        <p:nvSpPr>
          <p:cNvPr id="348" name="Scale campaigns, sales + channels">
            <a:extLst xmlns:a="http://schemas.openxmlformats.org/drawingml/2006/main">
              <a:ext uri="{FF2B5EF4-FFF2-40B4-BE49-F238E27FC236}">
                <a16:creationId xmlns:a16="http://schemas.microsoft.com/office/drawing/2014/main" id="{4109AF39-1C79-4A46-913E-275DDE367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76800"/>
            <a:ext cx="2571750" cy="285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defTabSz="868680">
              <a:buNone/>
              <a:defRPr sz="1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Turn pilots into repeatable expansion</a:t>
            </a:r>
          </a:p>
        </p:txBody>
      </p:sp>
      <p:sp>
        <p:nvSpPr>
          <p:cNvPr id="349" name="ROUND SIGNAL">
            <a:extLst xmlns:a="http://schemas.openxmlformats.org/drawingml/2006/main">
              <a:ext uri="{FF2B5EF4-FFF2-40B4-BE49-F238E27FC236}">
                <a16:creationId xmlns:a16="http://schemas.microsoft.com/office/drawing/2014/main" id="{A945EBE0-7A1F-4280-8C93-B132E761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572000"/>
            <a:ext cx="1333500" cy="1905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900" b="1">
                <a:solidFill>
                  <a:srgbClr val="26B47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ROUND SIGNAL</a:t>
            </a:r>
          </a:p>
        </p:txBody>
      </p:sp>
      <p:sp>
        <p:nvSpPr>
          <p:cNvPr id="350" name="Active Capital interested in participating, subject to a lead">
            <a:extLst xmlns:a="http://schemas.openxmlformats.org/drawingml/2006/main">
              <a:ext uri="{FF2B5EF4-FFF2-40B4-BE49-F238E27FC236}">
                <a16:creationId xmlns:a16="http://schemas.microsoft.com/office/drawing/2014/main" id="{7A3B900E-6BC3-45DB-A787-B4A2BA525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876800"/>
            <a:ext cx="376447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defTabSz="896111">
              <a:buNone/>
              <a:defRPr sz="1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$15–20M · seeking lead · Active Capital follow-on interest</a:t>
            </a:r>
          </a:p>
        </p:txBody>
      </p:sp>
      <p:sp>
        <p:nvSpPr>
          <p:cNvPr id="351" name="amoslabs.com  ·  app.amoslabs.com/playground">
            <a:extLst xmlns:a="http://schemas.openxmlformats.org/drawingml/2006/main">
              <a:ext uri="{FF2B5EF4-FFF2-40B4-BE49-F238E27FC236}">
                <a16:creationId xmlns:a16="http://schemas.microsoft.com/office/drawing/2014/main" id="{574B98A3-74B5-441C-A9DD-10C4A8484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981700"/>
            <a:ext cx="4991100" cy="2286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buNone/>
              <a:defRPr sz="1200" b="1">
                <a:solidFill>
                  <a:srgbClr val="5B8DE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amoslabs.com  ·  app.amoslabs.com/playground</a:t>
            </a:r>
          </a:p>
        </p:txBody>
      </p:sp>
      <p:sp>
        <p:nvSpPr>
          <p:cNvPr id="352" name="email-link">
            <a:extLst xmlns:a="http://schemas.openxmlformats.org/drawingml/2006/main">
              <a:ext uri="{FF2B5EF4-FFF2-40B4-BE49-F238E27FC236}">
                <a16:creationId xmlns:a16="http://schemas.microsoft.com/office/drawing/2014/main" id="{F570928C-CEC2-4B9A-9AB1-30680455E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16" y="5981701"/>
            <a:ext cx="4004318" cy="26425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Rick Barkley · </a:t>
            </a:r>
            <a:r>
              <a:rPr u="sng">
                <a:solidFill>
                  <a:srgbClr val="0000FF"/>
                </a:solidFill>
                <a:hlinkClick xmlns:r="http://schemas.openxmlformats.org/officeDocument/2006/relationships" r:id="R86a3535ad561404c"/>
              </a:rPr>
              <a:t>rick@amoslabs.com</a:t>
            </a:r>
          </a:p>
        </p:txBody>
      </p:sp>
    </p:spTree>
    <p:extLst>
      <p:ext uri="{BB962C8B-B14F-4D97-AF65-F5344CB8AC3E}">
        <p14:creationId xmlns:p14="http://schemas.microsoft.com/office/powerpoint/2010/main" val="10552151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2026-08-01T22:02:44.1550000Z</dcterms:created>
  <dcterms:modified xsi:type="dcterms:W3CDTF">2026-08-01T22:02:44.1550000Z</dcterms:modified>
</coreProperties>
</file>